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notesMaster" Target="notesMasters/notesMaster1.xml" /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Metrics:</a:t>
            </a:r>
          </a:p>
          <a:p>
            <a:pPr lvl="0" indent="0" marL="0">
              <a:buNone/>
            </a:pPr>
          </a:p>
          <a:p>
            <a:pPr lvl="0"/>
            <a:r>
              <a:rPr/>
              <a:t>Parallel intellectual pipelines sustained</a:t>
            </a:r>
          </a:p>
          <a:p>
            <a:pPr lvl="0" indent="0" marL="0">
              <a:buNone/>
            </a:pPr>
          </a:p>
          <a:p>
            <a:pPr lvl="0"/>
            <a:r>
              <a:rPr/>
              <a:t>Diversity index of fields mastered</a:t>
            </a:r>
          </a:p>
          <a:p>
            <a:pPr lvl="0" indent="0" marL="0">
              <a:buNone/>
            </a:pPr>
          </a:p>
          <a:p>
            <a:pPr lvl="0"/>
            <a:r>
              <a:rPr/>
              <a:t>Time to proficiency across subjects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Metrics:</a:t>
            </a:r>
          </a:p>
          <a:p>
            <a:pPr lvl="0" indent="0" marL="0">
              <a:buNone/>
            </a:pPr>
          </a:p>
          <a:p>
            <a:pPr lvl="0"/>
            <a:r>
              <a:rPr/>
              <a:t>Shortest time to PhD-level mastery</a:t>
            </a:r>
          </a:p>
          <a:p>
            <a:pPr lvl="0" indent="0" marL="0">
              <a:buNone/>
            </a:pPr>
          </a:p>
          <a:p>
            <a:pPr lvl="0"/>
            <a:r>
              <a:rPr/>
              <a:t>Hours to independent problem-solving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Metrics:</a:t>
            </a:r>
          </a:p>
          <a:p>
            <a:pPr lvl="0" indent="0" marL="0">
              <a:buNone/>
            </a:pPr>
          </a:p>
          <a:p>
            <a:pPr lvl="0"/>
            <a:r>
              <a:rPr/>
              <a:t>Distinct professional fields mastered</a:t>
            </a:r>
          </a:p>
          <a:p>
            <a:pPr lvl="0" indent="0" marL="0">
              <a:buNone/>
            </a:pPr>
          </a:p>
          <a:p>
            <a:pPr lvl="0"/>
            <a:r>
              <a:rPr/>
              <a:t>Retraining time to employability</a:t>
            </a:r>
          </a:p>
          <a:p>
            <a:pPr lvl="0" indent="0" marL="0">
              <a:buNone/>
            </a:pPr>
          </a:p>
          <a:p>
            <a:pPr lvl="0"/>
            <a:r>
              <a:rPr/>
              <a:t>Career pivot frequency and speed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Combined Insight:</a:t>
            </a:r>
            <a:r>
              <a:rPr/>
              <a:t> Superset merges field obsolescence (Addressing) with cross-scale synthesis (Transformation). AI enables both simultaneously—redefining fields while creating connections across scales.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Metrics:</a:t>
            </a:r>
            <a:r>
              <a:rPr/>
              <a:t> - Fields successfully re-addressed - Cross-scale synthesis discoveries - Time from insight to field transformation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Metrics:</a:t>
            </a:r>
          </a:p>
          <a:p>
            <a:pPr lvl="0" indent="0" marL="0">
              <a:buNone/>
            </a:pPr>
          </a:p>
          <a:p>
            <a:pPr lvl="0"/>
            <a:r>
              <a:rPr/>
              <a:t>Scale traversals navigated</a:t>
            </a:r>
          </a:p>
          <a:p>
            <a:pPr lvl="0" indent="0" marL="0">
              <a:buNone/>
            </a:pPr>
          </a:p>
          <a:p>
            <a:pPr lvl="0"/>
            <a:r>
              <a:rPr/>
              <a:t>Knowledge topology compression ratio</a:t>
            </a:r>
          </a:p>
          <a:p>
            <a:pPr lvl="0" indent="0" marL="0">
              <a:buNone/>
            </a:pPr>
          </a:p>
          <a:p>
            <a:pPr lvl="0"/>
            <a:r>
              <a:rPr/>
              <a:t>Emergent property discovery 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KSAs provide foundation for testable hypotheses. Each economy emphasizes different KSA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1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5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 Learning Economies: Transforming Education in the AI Era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 Framework for Educators, Administrators, and Policymakers</a:t>
            </a:r>
          </a:p>
          <a:p>
            <a:pPr lvl="0" indent="0" marL="0">
              <a:buNone/>
            </a:pPr>
            <a:r>
              <a:rPr b="1"/>
              <a:t>30-Minute Presentation target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Economies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New Shapes of Education in the AI Era</a:t>
            </a:r>
          </a:p>
          <a:p>
            <a:pPr lvl="0" indent="0" marL="0">
              <a:buNone/>
            </a:pPr>
            <a:r>
              <a:rPr/>
              <a:t>John Franolich</a:t>
            </a:r>
          </a:p>
          <a:p>
            <a:pPr lvl="0" indent="0" marL="0">
              <a:buNone/>
            </a:pPr>
            <a:r>
              <a:rPr/>
              <a:t>Zachary Jones</a:t>
            </a:r>
          </a:p>
          <a:p>
            <a:pPr lvl="0" indent="0" marL="0">
              <a:buNone/>
            </a:pPr>
            <a:r>
              <a:rPr b="1"/>
              <a:t>GuildCon 2025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Basis of ‘Learning Economies’</a:t>
            </a:r>
          </a:p>
          <a:p>
            <a:pPr lvl="0"/>
            <a:r>
              <a:rPr/>
              <a:t>The ‘Learning Economies’</a:t>
            </a:r>
          </a:p>
          <a:p>
            <a:pPr lvl="0"/>
            <a:r>
              <a:rPr/>
              <a:t>Futurism</a:t>
            </a:r>
          </a:p>
          <a:p>
            <a:pPr lvl="0"/>
            <a:r>
              <a:rPr/>
              <a:t>Guides</a:t>
            </a:r>
          </a:p>
          <a:p>
            <a:pPr lvl="0"/>
            <a:r>
              <a:rPr/>
              <a:t>Implementing and Testing</a:t>
            </a:r>
          </a:p>
          <a:p>
            <a:pPr lvl="0"/>
            <a:r>
              <a:rPr/>
              <a:t>Going Forward</a:t>
            </a:r>
          </a:p>
          <a:p>
            <a:pPr lvl="0"/>
            <a:r>
              <a:rPr/>
              <a:t>Q&amp;A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Basis of ‘Learning Economies’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“Learning Economies”?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LLM has a bias based on training</a:t>
            </a:r>
          </a:p>
          <a:p>
            <a:pPr lvl="0"/>
            <a:r>
              <a:rPr/>
              <a:t>Design curricula and Edu support to work with the bias</a:t>
            </a:r>
          </a:p>
          <a:p>
            <a:pPr lvl="1"/>
            <a:r>
              <a:rPr/>
              <a:t>example: ontology hydrations for cyber assets vs. flow</a:t>
            </a:r>
          </a:p>
          <a:p>
            <a:pPr lvl="1"/>
            <a:r>
              <a:rPr/>
              <a:t>think of a coin sorting machine that has no slot for dimes.</a:t>
            </a:r>
          </a:p>
          <a:p>
            <a:pPr lvl="0" indent="0" marL="0">
              <a:buNone/>
            </a:pPr>
            <a:r>
              <a:rPr/>
              <a:t>Speed to learning can be very fast.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 with the grain: LLM architecture -&gt; learning</a:t>
            </a:r>
          </a:p>
          <a:p>
            <a:pPr lvl="0"/>
            <a:r>
              <a:rPr b="1"/>
              <a:t>Addressing</a:t>
            </a:r>
            <a:r>
              <a:rPr/>
              <a:t> → Multidisciplinarity.</a:t>
            </a:r>
          </a:p>
          <a:p>
            <a:pPr lvl="0"/>
            <a:r>
              <a:rPr b="1"/>
              <a:t>Compression</a:t>
            </a:r>
            <a:r>
              <a:rPr/>
              <a:t> → Conceptual leaps, connections.</a:t>
            </a:r>
          </a:p>
          <a:p>
            <a:pPr lvl="0"/>
            <a:r>
              <a:rPr b="1"/>
              <a:t>Routing</a:t>
            </a:r>
            <a:r>
              <a:rPr/>
              <a:t> → Concept linkage and context.</a:t>
            </a:r>
          </a:p>
          <a:p>
            <a:pPr lvl="0"/>
            <a:r>
              <a:rPr b="1"/>
              <a:t>Temperature</a:t>
            </a:r>
            <a:r>
              <a:rPr/>
              <a:t> → Inspiration and creativity.</a:t>
            </a:r>
          </a:p>
          <a:p>
            <a:pPr lvl="0"/>
            <a:r>
              <a:rPr b="1"/>
              <a:t>Stabilization</a:t>
            </a:r>
            <a:r>
              <a:rPr/>
              <a:t> → Loop between Educator and Learner.</a:t>
            </a:r>
          </a:p>
          <a:p>
            <a:pPr lvl="0"/>
            <a:r>
              <a:rPr b="1"/>
              <a:t>Transformers</a:t>
            </a:r>
            <a:r>
              <a:rPr/>
              <a:t> → Non-linearity and new structures.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“Learning Economies”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Framework for Learning Speed and Quality</a:t>
            </a:r>
          </a:p>
          <a:p>
            <a:pPr lvl="0"/>
            <a:r>
              <a:rPr b="1"/>
              <a:t>Core competency frameworks</a:t>
            </a:r>
          </a:p>
          <a:p>
            <a:pPr lvl="0"/>
            <a:r>
              <a:rPr b="1"/>
              <a:t>Learning efficiencies</a:t>
            </a:r>
          </a:p>
          <a:p>
            <a:pPr lvl="0"/>
            <a:r>
              <a:rPr b="1"/>
              <a:t>Learning dynamics</a:t>
            </a:r>
          </a:p>
          <a:p>
            <a:pPr lvl="0"/>
            <a:r>
              <a:rPr b="1"/>
              <a:t>Key questions</a:t>
            </a:r>
            <a:r>
              <a:rPr/>
              <a:t> about instructional models</a:t>
            </a:r>
          </a:p>
          <a:p>
            <a:pPr lvl="0"/>
            <a:r>
              <a:rPr b="1"/>
              <a:t>Knowledge architectures</a:t>
            </a:r>
            <a:r>
              <a:rPr/>
              <a:t> for cognition and tooling</a:t>
            </a:r>
          </a:p>
          <a:p>
            <a:pPr lvl="0"/>
            <a:r>
              <a:rPr b="1"/>
              <a:t>Mastery models</a:t>
            </a:r>
            <a:r>
              <a:rPr/>
              <a:t> in AI-accelerated world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‘Learning Economies’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Four Learning Economies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New taxonomy for learning</a:t>
            </a:r>
          </a:p>
          <a:p>
            <a:pPr lvl="0" indent="-342900" marL="342900">
              <a:buAutoNum type="arabicPeriod"/>
            </a:pPr>
            <a:r>
              <a:rPr b="1"/>
              <a:t>Breadth</a:t>
            </a:r>
            <a:r>
              <a:rPr/>
              <a:t> - Multi-subject mastery and parallel domain competency</a:t>
            </a:r>
          </a:p>
          <a:p>
            <a:pPr lvl="0" indent="-342900" marL="342900">
              <a:buAutoNum type="arabicPeriod"/>
            </a:pPr>
            <a:r>
              <a:rPr b="1"/>
              <a:t>Depth</a:t>
            </a:r>
            <a:r>
              <a:rPr/>
              <a:t> - Time-to-competence optimization and acceleration</a:t>
            </a:r>
          </a:p>
          <a:p>
            <a:pPr lvl="0" indent="-342900" marL="342900">
              <a:buAutoNum type="arabicPeriod"/>
            </a:pPr>
            <a:r>
              <a:rPr b="1"/>
              <a:t>Subset</a:t>
            </a:r>
            <a:r>
              <a:rPr/>
              <a:t> - Career mobility through rapid retraining</a:t>
            </a:r>
          </a:p>
          <a:p>
            <a:pPr lvl="0" indent="-342900" marL="342900">
              <a:buAutoNum type="arabicPeriod"/>
            </a:pPr>
            <a:r>
              <a:rPr b="1"/>
              <a:t>Superset</a:t>
            </a:r>
            <a:r>
              <a:rPr/>
              <a:t> - Field reinvention and creative restructuring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Breadth Economy: Multi-Subject / Multi-Degree Mastery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Current State:</a:t>
            </a:r>
          </a:p>
          <a:p>
            <a:pPr lvl="0"/>
            <a:r>
              <a:rPr/>
              <a:t>Broad exposure required (high school)</a:t>
            </a:r>
          </a:p>
          <a:p>
            <a:pPr lvl="0"/>
            <a:r>
              <a:rPr/>
              <a:t>Single-field depth emphasis (undergrad)</a:t>
            </a:r>
          </a:p>
          <a:p>
            <a:pPr lvl="0"/>
            <a:r>
              <a:rPr/>
              <a:t>GPA measures breadth navigation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AI-Accelerated Future:</a:t>
            </a:r>
          </a:p>
          <a:p>
            <a:pPr lvl="0"/>
            <a:r>
              <a:rPr b="1"/>
              <a:t>Double/triple majors</a:t>
            </a:r>
            <a:r>
              <a:rPr/>
              <a:t> → </a:t>
            </a:r>
            <a:r>
              <a:rPr b="1"/>
              <a:t>4-5 simultaneous</a:t>
            </a:r>
          </a:p>
          <a:p>
            <a:pPr lvl="0"/>
            <a:r>
              <a:rPr/>
              <a:t>Multiple degrees acquired simultaneously</a:t>
            </a:r>
          </a:p>
          <a:p>
            <a:pPr lvl="0"/>
            <a:r>
              <a:rPr/>
              <a:t>Portfolio breadth as primary metric</a:t>
            </a:r>
          </a:p>
          <a:p>
            <a:pPr lvl="0"/>
            <a:r>
              <a:rPr b="1"/>
              <a:t>LLM routing</a:t>
            </a:r>
            <a:r>
              <a:rPr/>
              <a:t> between knowledge domains</a:t>
            </a:r>
          </a:p>
          <a:p>
            <a:pPr lvl="0"/>
            <a:r>
              <a:rPr b="1"/>
              <a:t>Temperature</a:t>
            </a:r>
            <a:r>
              <a:rPr/>
              <a:t> creates crossover between segments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Depth Economy: Acceleration to Mastery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Current State:</a:t>
            </a:r>
          </a:p>
          <a:p>
            <a:pPr lvl="0"/>
            <a:r>
              <a:rPr/>
              <a:t>Some students “blast through” to PhD rapidly</a:t>
            </a:r>
          </a:p>
          <a:p>
            <a:pPr lvl="0"/>
            <a:r>
              <a:rPr/>
              <a:t>Traditional bottlenecks: lectures, lab failures, prerequisites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AI-Accelerated Future:</a:t>
            </a:r>
          </a:p>
          <a:p>
            <a:pPr lvl="0"/>
            <a:r>
              <a:rPr b="1"/>
              <a:t>More students</a:t>
            </a:r>
            <a:r>
              <a:rPr/>
              <a:t> at mastery levels</a:t>
            </a:r>
          </a:p>
          <a:p>
            <a:pPr lvl="0"/>
            <a:r>
              <a:rPr/>
              <a:t>AI/LLM enable acceleration for broader population</a:t>
            </a:r>
          </a:p>
          <a:p>
            <a:pPr lvl="0"/>
            <a:r>
              <a:rPr/>
              <a:t>PhD-level mastery normalized in late teens</a:t>
            </a:r>
          </a:p>
          <a:p>
            <a:pPr lvl="0"/>
            <a:r>
              <a:rPr/>
              <a:t>AI scaffolding removes time bottlenecks</a:t>
            </a:r>
          </a:p>
          <a:p>
            <a:pPr lvl="0"/>
            <a:r>
              <a:rPr/>
              <a:t>Personalized acceleration pathways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Subset Economy: Vocational / Career Re-Training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Current State:</a:t>
            </a:r>
          </a:p>
          <a:p>
            <a:pPr lvl="0"/>
            <a:r>
              <a:rPr/>
              <a:t>Career switches 2-3 times in life</a:t>
            </a:r>
          </a:p>
          <a:p>
            <a:pPr lvl="0"/>
            <a:r>
              <a:rPr/>
              <a:t>Retraining takes years</a:t>
            </a:r>
          </a:p>
          <a:p>
            <a:pPr lvl="0"/>
            <a:r>
              <a:rPr/>
              <a:t>Coding bootcamps, certifications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AI-Accelerated Future:</a:t>
            </a:r>
          </a:p>
          <a:p>
            <a:pPr lvl="0"/>
            <a:r>
              <a:rPr/>
              <a:t>Vocational retraining compressed to months/weeks</a:t>
            </a:r>
          </a:p>
          <a:p>
            <a:pPr lvl="0"/>
            <a:r>
              <a:rPr b="1"/>
              <a:t>Work in multiple trades</a:t>
            </a:r>
            <a:r>
              <a:rPr/>
              <a:t> simultaneously</a:t>
            </a:r>
          </a:p>
          <a:p>
            <a:pPr lvl="0"/>
            <a:r>
              <a:rPr b="1"/>
              <a:t>Adjacent trades</a:t>
            </a:r>
            <a:r>
              <a:rPr/>
              <a:t> easier to acquire</a:t>
            </a:r>
          </a:p>
          <a:p>
            <a:pPr lvl="0"/>
            <a:r>
              <a:rPr/>
              <a:t>One trade provides </a:t>
            </a:r>
            <a:r>
              <a:rPr b="1"/>
              <a:t>cognitive scaffolding</a:t>
            </a:r>
            <a:r>
              <a:rPr/>
              <a:t> for next</a:t>
            </a:r>
          </a:p>
          <a:p>
            <a:pPr lvl="0"/>
            <a:r>
              <a:rPr/>
              <a:t>Skills transfer between vocational domains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Superset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Field Reinvention:</a:t>
            </a:r>
          </a:p>
          <a:p>
            <a:pPr lvl="0"/>
            <a:r>
              <a:rPr/>
              <a:t>Re-addressing what knowledge means</a:t>
            </a:r>
          </a:p>
          <a:p>
            <a:pPr lvl="0"/>
            <a:r>
              <a:rPr/>
              <a:t>Fields obsoleted by re-framing fundamentals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loom → carbon fiber</a:t>
            </a:r>
          </a:p>
          <a:p>
            <a:pPr lvl="1"/>
            <a:r>
              <a:rPr/>
              <a:t>calculator → CPU/GPU</a:t>
            </a:r>
          </a:p>
          <a:p>
            <a:pPr lvl="1"/>
            <a:r>
              <a:rPr/>
              <a:t>celestial nav → GPS</a:t>
            </a:r>
          </a:p>
          <a:p>
            <a:pPr lvl="0" indent="0" marL="0">
              <a:buNone/>
            </a:pPr>
            <a:r>
              <a:rPr/>
              <a:t>Leapfrogging. Fast reinvention.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Cross-Scale Navigation (Transformation):</a:t>
            </a:r>
          </a:p>
          <a:p>
            <a:pPr lvl="0"/>
            <a:r>
              <a:rPr/>
              <a:t>micro/macro, constellation</a:t>
            </a:r>
          </a:p>
          <a:p>
            <a:pPr lvl="0"/>
            <a:r>
              <a:rPr/>
              <a:t>analogous insights across fields</a:t>
            </a:r>
          </a:p>
          <a:p>
            <a:pPr lvl="0"/>
            <a:r>
              <a:rPr/>
              <a:t>‘Savant-level’ as Accessibility</a:t>
            </a:r>
          </a:p>
          <a:p>
            <a:pPr lvl="0"/>
            <a:r>
              <a:rPr/>
              <a:t>4+ order-of-magnitude GPT:</a:t>
            </a:r>
          </a:p>
          <a:p>
            <a:pPr lvl="1"/>
            <a:r>
              <a:rPr/>
              <a:t>molecular biology → ecosystems</a:t>
            </a:r>
          </a:p>
          <a:p>
            <a:pPr lvl="1"/>
            <a:r>
              <a:rPr/>
              <a:t>physics principles → economics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Example: ASU Microcredentials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Real-world micro-credentialing at scale</a:t>
            </a:r>
          </a:p>
          <a:p>
            <a:pPr lvl="0"/>
            <a:r>
              <a:rPr b="1"/>
              <a:t>Modular micro-badges:</a:t>
            </a:r>
            <a:r>
              <a:rPr/>
              <a:t> 10-15 hour courses</a:t>
            </a:r>
          </a:p>
          <a:p>
            <a:pPr lvl="0"/>
            <a:r>
              <a:rPr b="1"/>
              <a:t>Stackable design</a:t>
            </a:r>
          </a:p>
          <a:p>
            <a:pPr lvl="0"/>
            <a:r>
              <a:rPr b="1"/>
              <a:t>Leveled progression</a:t>
            </a:r>
          </a:p>
          <a:p>
            <a:pPr lvl="0"/>
            <a:r>
              <a:rPr b="1"/>
              <a:t>Industry-aligned:</a:t>
            </a:r>
            <a:r>
              <a:rPr/>
              <a:t> market transformation</a:t>
            </a:r>
          </a:p>
          <a:p>
            <a:pPr lvl="0"/>
            <a:r>
              <a:rPr b="1"/>
              <a:t>Pathways to degrees:</a:t>
            </a:r>
            <a:r>
              <a:rPr/>
              <a:t> stack toward programs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It Works:</a:t>
            </a:r>
          </a:p>
          <a:p>
            <a:pPr lvl="0"/>
            <a:r>
              <a:rPr/>
              <a:t>Low barrier transitions</a:t>
            </a:r>
          </a:p>
          <a:p>
            <a:pPr lvl="0"/>
            <a:r>
              <a:rPr/>
              <a:t>Rapid skill acquisition (weeks)</a:t>
            </a:r>
          </a:p>
          <a:p>
            <a:pPr lvl="0"/>
            <a:r>
              <a:rPr/>
              <a:t>Portable badges</a:t>
            </a:r>
          </a:p>
          <a:p>
            <a:pPr lvl="0"/>
            <a:r>
              <a:rPr/>
              <a:t>Flexible, affordable, accessible</a:t>
            </a:r>
          </a:p>
          <a:p>
            <a:pPr lvl="0"/>
            <a:r>
              <a:rPr/>
              <a:t>Market-responsive agility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as Learning Economy Accelerator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 With the Grain:</a:t>
            </a:r>
          </a:p>
          <a:p>
            <a:pPr lvl="0"/>
            <a:r>
              <a:rPr/>
              <a:t>Accelerate native to the tooling.</a:t>
            </a:r>
          </a:p>
          <a:p>
            <a:pPr lvl="0"/>
            <a:r>
              <a:rPr/>
              <a:t>Find human things that don’t align.</a:t>
            </a:r>
          </a:p>
          <a:p>
            <a:pPr lvl="0"/>
            <a:r>
              <a:rPr/>
              <a:t>Humanize the compression (language).</a:t>
            </a:r>
          </a:p>
          <a:p>
            <a:pPr lvl="0"/>
            <a:r>
              <a:rPr/>
              <a:t>Seek new Technical structure for LLMs.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AI Doesn’t / Shouldn’t Do:</a:t>
            </a:r>
          </a:p>
          <a:p>
            <a:pPr lvl="0"/>
            <a:r>
              <a:rPr/>
              <a:t>Create fundamentally new cognitive economics</a:t>
            </a:r>
          </a:p>
          <a:p>
            <a:pPr lvl="0"/>
            <a:r>
              <a:rPr/>
              <a:t>Replace human cross-domain pattern recognition</a:t>
            </a:r>
          </a:p>
          <a:p>
            <a:pPr lvl="0"/>
            <a:r>
              <a:rPr/>
              <a:t>Eliminate need for meta-competencies</a:t>
            </a:r>
          </a:p>
          <a:p>
            <a:pPr lvl="0"/>
            <a:r>
              <a:rPr/>
              <a:t>Replace gut-reactions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Futurism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Economic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Labor Market Transformations:</a:t>
            </a:r>
          </a:p>
          <a:p>
            <a:pPr lvl="0"/>
            <a:r>
              <a:rPr/>
              <a:t>Jobs as Learning Economic Portfolios</a:t>
            </a:r>
          </a:p>
          <a:p>
            <a:pPr lvl="0"/>
            <a:r>
              <a:rPr/>
              <a:t>Superset-Driven Restructuring</a:t>
            </a:r>
          </a:p>
          <a:p>
            <a:pPr lvl="0"/>
            <a:r>
              <a:rPr/>
              <a:t>Industry disruption compressed from decades to years</a:t>
            </a:r>
          </a:p>
          <a:p>
            <a:pPr lvl="0"/>
            <a:r>
              <a:rPr/>
              <a:t>Multi-scale navigators command salary premiums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New Forms of Knowledge Capital:</a:t>
            </a:r>
          </a:p>
          <a:p>
            <a:pPr lvl="0"/>
            <a:r>
              <a:rPr/>
              <a:t>Hyper-Dynamic Competency</a:t>
            </a:r>
          </a:p>
          <a:p>
            <a:pPr lvl="0"/>
            <a:r>
              <a:rPr/>
              <a:t>Human capital more liquid and realtime</a:t>
            </a:r>
          </a:p>
          <a:p>
            <a:pPr lvl="0"/>
            <a:r>
              <a:rPr/>
              <a:t>Pattern-recognition specialists</a:t>
            </a:r>
          </a:p>
          <a:p>
            <a:pPr lvl="0"/>
            <a:r>
              <a:rPr/>
              <a:t>Learning Velocity as Currency</a:t>
            </a:r>
          </a:p>
          <a:p>
            <a:pPr lvl="0"/>
            <a:r>
              <a:rPr/>
              <a:t>Learning potential KPIs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Institutional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Credential Lag Problem</a:t>
            </a:r>
          </a:p>
          <a:p>
            <a:pPr lvl="0"/>
            <a:r>
              <a:rPr/>
              <a:t>Admin Benchmarks</a:t>
            </a:r>
          </a:p>
          <a:p>
            <a:pPr lvl="0"/>
            <a:r>
              <a:rPr/>
              <a:t>Degree programs not adapted</a:t>
            </a:r>
          </a:p>
          <a:p>
            <a:pPr lvl="0"/>
            <a:r>
              <a:rPr/>
              <a:t>Common departmental silos</a:t>
            </a:r>
          </a:p>
          <a:p>
            <a:pPr lvl="0"/>
            <a:r>
              <a:rPr/>
              <a:t>Certification as Calibration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Progressive Responses:</a:t>
            </a:r>
          </a:p>
          <a:p>
            <a:pPr lvl="0"/>
            <a:r>
              <a:rPr/>
              <a:t>Follow multidisciplinary programs like Cybersecurity</a:t>
            </a:r>
          </a:p>
          <a:p>
            <a:pPr lvl="0"/>
            <a:r>
              <a:rPr/>
              <a:t>New NIST frameworks</a:t>
            </a:r>
          </a:p>
          <a:p>
            <a:pPr lvl="0"/>
            <a:r>
              <a:rPr/>
              <a:t>Novel metrics from LLMs</a:t>
            </a:r>
          </a:p>
          <a:p>
            <a:pPr lvl="0"/>
            <a:r>
              <a:rPr/>
              <a:t>Become Learning Economy Orchestrators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Policy Guides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Applications for Educators: From Teaching, to Learning Economy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Develop competency across all four economies</a:t>
            </a:r>
          </a:p>
          <a:p>
            <a:pPr lvl="0"/>
            <a:r>
              <a:rPr/>
              <a:t>Strengthen Resonance capabilities in students</a:t>
            </a:r>
          </a:p>
          <a:p>
            <a:pPr lvl="0"/>
            <a:r>
              <a:rPr/>
              <a:t>Enable fluid navigation between learning modes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Breadth: Managing parallel domain mastery</a:t>
            </a:r>
          </a:p>
          <a:p>
            <a:pPr lvl="0"/>
            <a:r>
              <a:rPr/>
              <a:t>Depth: Optimizing time-to-discovery</a:t>
            </a:r>
          </a:p>
          <a:p>
            <a:pPr lvl="0"/>
            <a:r>
              <a:rPr/>
              <a:t>Subset: Modular field practice</a:t>
            </a:r>
          </a:p>
          <a:p>
            <a:pPr lvl="0"/>
            <a:r>
              <a:rPr/>
              <a:t>Superset: Teaching focus + multi-scale</a:t>
            </a:r>
          </a:p>
          <a:p>
            <a:pPr lvl="0"/>
            <a:r>
              <a:rPr/>
              <a:t>Resonance: Identifying valuable cross-domain transfer patterns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Applications for Administrators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Institutional Restructuring:</a:t>
            </a:r>
          </a:p>
          <a:p>
            <a:pPr lvl="0"/>
            <a:r>
              <a:rPr/>
              <a:t>Resonance Clusters: Interdisciplinary groups focused on cross-domain transfer</a:t>
            </a:r>
          </a:p>
          <a:p>
            <a:pPr lvl="0"/>
            <a:r>
              <a:rPr/>
              <a:t>Scale Navigation Labs: Spaces for micro-to-macro knowledge routing</a:t>
            </a:r>
          </a:p>
          <a:p>
            <a:pPr lvl="0"/>
            <a:r>
              <a:rPr/>
              <a:t>Disruption Incubators: Environments for Superset innovation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Assessment Evolution:</a:t>
            </a:r>
          </a:p>
          <a:p>
            <a:pPr lvl="0"/>
            <a:r>
              <a:rPr/>
              <a:t>Portfolio-Based Assessment: Dynamic portfolios measuring all four economies</a:t>
            </a:r>
          </a:p>
          <a:p>
            <a:pPr lvl="0"/>
            <a:r>
              <a:rPr/>
              <a:t>Real-Time Competency Tracking: AI-powered continuous evaluation</a:t>
            </a:r>
          </a:p>
          <a:p>
            <a:pPr lvl="0"/>
            <a:r>
              <a:rPr/>
              <a:t>Fluid Credentials: Reflecting evolving capabilities, not historical achievements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Applications for Policymakers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Economic Development Strategy:</a:t>
            </a:r>
          </a:p>
          <a:p>
            <a:pPr lvl="0"/>
            <a:r>
              <a:rPr/>
              <a:t>Building institutional foundations for rapid learning acceleration</a:t>
            </a:r>
          </a:p>
          <a:p>
            <a:pPr lvl="0"/>
            <a:r>
              <a:rPr/>
              <a:t>Create competitive advantage through learning velocity</a:t>
            </a:r>
          </a:p>
          <a:p>
            <a:pPr lvl="0"/>
            <a:r>
              <a:rPr/>
              <a:t>Foster all four Learning Economies simultaneously for resilience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Policy Priorities:</a:t>
            </a:r>
          </a:p>
          <a:p>
            <a:pPr lvl="0"/>
            <a:r>
              <a:rPr/>
              <a:t>Learning Economy Infrastructure: Institutional, technological, cultural foundations</a:t>
            </a:r>
          </a:p>
          <a:p>
            <a:pPr lvl="0"/>
            <a:r>
              <a:rPr/>
              <a:t>Resonance Amplification: Systems that strengthen cross-domain pattern recognition</a:t>
            </a:r>
          </a:p>
          <a:p>
            <a:pPr lvl="0"/>
            <a:r>
              <a:rPr/>
              <a:t>Meta-Competency Development: Teaching how to learn within each economy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Implementing and Testing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Testable Hypotheses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NIST 800-181 Alignment</a:t>
            </a:r>
          </a:p>
          <a:p>
            <a:pPr lvl="0"/>
            <a:r>
              <a:rPr/>
              <a:t>14 Testable Hypotheses per Learning Economy</a:t>
            </a:r>
          </a:p>
          <a:p>
            <a:pPr lvl="0"/>
            <a:r>
              <a:rPr/>
              <a:t>Concrete, measurable interventions</a:t>
            </a:r>
          </a:p>
          <a:p>
            <a:pPr lvl="0"/>
            <a:r>
              <a:rPr/>
              <a:t>Pilot study designs</a:t>
            </a:r>
          </a:p>
          <a:p>
            <a:pPr lvl="0"/>
            <a:r>
              <a:rPr/>
              <a:t>Quantitative measures: metrics, observability, success criteria</a:t>
            </a:r>
          </a:p>
          <a:p>
            <a:pPr lvl="0"/>
            <a:r>
              <a:rPr/>
              <a:t>RCT designs, statistical methods, ethics</a:t>
            </a:r>
          </a:p>
          <a:p>
            <a:pPr lvl="0"/>
            <a:r>
              <a:rPr/>
              <a:t>Open source hypothesis testing</a:t>
            </a:r>
          </a:p>
          <a:p>
            <a:pPr lvl="0"/>
            <a:r>
              <a:rPr/>
              <a:t>Admin/liaison toolkit for educators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KSA Framework: Knowledge, Skills, 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KSA Drives Objectives:</a:t>
            </a:r>
          </a:p>
          <a:p>
            <a:pPr lvl="0"/>
            <a:r>
              <a:rPr b="1"/>
              <a:t>Knowledge:</a:t>
            </a:r>
            <a:r>
              <a:rPr/>
              <a:t> Domain foundations</a:t>
            </a:r>
          </a:p>
          <a:p>
            <a:pPr lvl="0"/>
            <a:r>
              <a:rPr b="1"/>
              <a:t>Skills:</a:t>
            </a:r>
            <a:r>
              <a:rPr/>
              <a:t> Practice and application</a:t>
            </a:r>
          </a:p>
          <a:p>
            <a:pPr lvl="0"/>
            <a:r>
              <a:rPr b="1"/>
              <a:t>Abilities:</a:t>
            </a:r>
            <a:r>
              <a:rPr/>
              <a:t> Integration and adaptation</a:t>
            </a:r>
          </a:p>
          <a:p>
            <a:pPr lvl="0" indent="0" marL="0">
              <a:buNone/>
            </a:pPr>
            <a:r>
              <a:rPr b="1"/>
              <a:t>Maps to:</a:t>
            </a:r>
            <a:r>
              <a:rPr/>
              <a:t> - Objectives, rubrics - Assessments - Measurements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Learning Economy Alignment:</a:t>
            </a:r>
          </a:p>
          <a:p>
            <a:pPr lvl="0"/>
            <a:r>
              <a:rPr b="1"/>
              <a:t>Depth:</a:t>
            </a:r>
            <a:r>
              <a:rPr/>
              <a:t> K→S→A velocity</a:t>
            </a:r>
          </a:p>
          <a:p>
            <a:pPr lvl="0"/>
            <a:r>
              <a:rPr b="1"/>
              <a:t>Breadth:</a:t>
            </a:r>
            <a:r>
              <a:rPr/>
              <a:t> Parallel KSA pipelines</a:t>
            </a:r>
          </a:p>
          <a:p>
            <a:pPr lvl="0"/>
            <a:r>
              <a:rPr b="1"/>
              <a:t>Subset:</a:t>
            </a:r>
            <a:r>
              <a:rPr/>
              <a:t> KSA transfer and liquidity</a:t>
            </a:r>
          </a:p>
          <a:p>
            <a:pPr lvl="0"/>
            <a:r>
              <a:rPr b="1"/>
              <a:t>Superset:</a:t>
            </a:r>
            <a:r>
              <a:rPr/>
              <a:t> Cross-domain synthesis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Training Kit for Educators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Student profile / basis</a:t>
            </a:r>
          </a:p>
          <a:p>
            <a:pPr lvl="0"/>
            <a:r>
              <a:rPr/>
              <a:t>Agentic attunement to goals (student, institution, class)</a:t>
            </a:r>
          </a:p>
          <a:p>
            <a:pPr lvl="0"/>
            <a:r>
              <a:rPr/>
              <a:t>Webapp service, AI App integrations</a:t>
            </a:r>
          </a:p>
          <a:p>
            <a:pPr lvl="0"/>
            <a:r>
              <a:rPr/>
              <a:t>Guide for other tools, notebooks, data integration</a:t>
            </a:r>
          </a:p>
          <a:p>
            <a:pPr lvl="0"/>
            <a:r>
              <a:rPr/>
              <a:t>Building accomplishment targets (NIST 800-181)</a:t>
            </a:r>
          </a:p>
          <a:p>
            <a:pPr lvl="0"/>
            <a:r>
              <a:rPr/>
              <a:t>Progress, outcomes, and measurement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1: Assessment &amp; Mapping</a:t>
            </a:r>
          </a:p>
          <a:p>
            <a:pPr lvl="0"/>
            <a:r>
              <a:rPr/>
              <a:t>Find existing Learning Economies</a:t>
            </a:r>
          </a:p>
          <a:p>
            <a:pPr lvl="0"/>
            <a:r>
              <a:rPr/>
              <a:t>Map existing programs; moonshots.</a:t>
            </a:r>
          </a:p>
          <a:p>
            <a:pPr lvl="0"/>
            <a:r>
              <a:rPr/>
              <a:t>Assess domain resonance</a:t>
            </a:r>
          </a:p>
          <a:p>
            <a:pPr lvl="0" indent="0" marL="0">
              <a:buNone/>
            </a:pPr>
            <a:r>
              <a:rPr b="1"/>
              <a:t>Phase 2: Pilot Programs</a:t>
            </a:r>
          </a:p>
          <a:p>
            <a:pPr lvl="0"/>
            <a:r>
              <a:rPr/>
              <a:t>Select 2-3 testable hypotheses</a:t>
            </a:r>
          </a:p>
          <a:p>
            <a:pPr lvl="0"/>
            <a:r>
              <a:rPr/>
              <a:t>Publish new measurements</a:t>
            </a:r>
          </a:p>
          <a:p>
            <a:pPr lvl="0"/>
            <a:r>
              <a:rPr/>
              <a:t>Toolkit info and implementation 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3: Scale &amp; Integration</a:t>
            </a:r>
          </a:p>
          <a:p>
            <a:pPr lvl="0"/>
            <a:r>
              <a:rPr/>
              <a:t>Expand successful pilots</a:t>
            </a:r>
          </a:p>
          <a:p>
            <a:pPr lvl="0"/>
            <a:r>
              <a:rPr/>
              <a:t>Orchestrator training</a:t>
            </a:r>
          </a:p>
          <a:p>
            <a:pPr lvl="0"/>
            <a:r>
              <a:rPr/>
              <a:t>Library of Cross-economy pathways</a:t>
            </a:r>
          </a:p>
          <a:p>
            <a:pPr lvl="0"/>
            <a:r>
              <a:rPr/>
              <a:t>Grants and training for self-sufficiency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to Measure Learning Economy Implementation</a:t>
            </a:r>
          </a:p>
          <a:p>
            <a:pPr lvl="0" indent="0" marL="0">
              <a:buNone/>
            </a:pPr>
            <a:r>
              <a:rPr b="1"/>
              <a:t>Individual Level:</a:t>
            </a:r>
          </a:p>
          <a:p>
            <a:pPr lvl="0"/>
            <a:r>
              <a:rPr/>
              <a:t>Breadth coefficients (parametric ratios)</a:t>
            </a:r>
          </a:p>
          <a:p>
            <a:pPr lvl="0"/>
            <a:r>
              <a:rPr/>
              <a:t>Depth velocity (time-to-mastery rates)</a:t>
            </a:r>
          </a:p>
          <a:p>
            <a:pPr lvl="0"/>
            <a:r>
              <a:rPr/>
              <a:t>Subset fluency (domain transfer success)</a:t>
            </a:r>
          </a:p>
          <a:p>
            <a:pPr lvl="0"/>
            <a:r>
              <a:rPr/>
              <a:t>Superset capacity (cross-scale navigation)</a:t>
            </a:r>
          </a:p>
          <a:p>
            <a:pPr lvl="0"/>
            <a:r>
              <a:rPr/>
              <a:t>Network-form efficiency</a:t>
            </a:r>
          </a:p>
          <a:p>
            <a:pPr lvl="0" indent="0" marL="0">
              <a:buNone/>
            </a:pPr>
            <a:r>
              <a:rPr b="1"/>
              <a:t>Institutional Level:</a:t>
            </a:r>
          </a:p>
          <a:p>
            <a:pPr lvl="0"/>
            <a:r>
              <a:rPr/>
              <a:t>Learning velocity acceleration rates</a:t>
            </a:r>
          </a:p>
          <a:p>
            <a:pPr lvl="0"/>
            <a:r>
              <a:rPr/>
              <a:t>Cross-economy program completion</a:t>
            </a:r>
          </a:p>
          <a:p>
            <a:pPr lvl="0"/>
            <a:r>
              <a:rPr/>
              <a:t>Resonance pattern recognition development</a:t>
            </a:r>
          </a:p>
          <a:p>
            <a:pPr lvl="0"/>
            <a:r>
              <a:rPr/>
              <a:t>Meta-competency acquisition rates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Emerging Technologies for Educators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High-Stakes Training:</a:t>
            </a:r>
            <a:r>
              <a:rPr/>
              <a:t> Ransomware negotiation training via VR scenarios</a:t>
            </a:r>
          </a:p>
          <a:p>
            <a:pPr lvl="0"/>
            <a:r>
              <a:rPr b="1"/>
              <a:t>Safe Practice Environments:</a:t>
            </a:r>
            <a:r>
              <a:rPr/>
              <a:t> Immersive training for situations difficult to replicate in real life</a:t>
            </a:r>
          </a:p>
          <a:p>
            <a:pPr lvl="0"/>
            <a:r>
              <a:rPr b="1"/>
              <a:t>Visual Learning:</a:t>
            </a:r>
            <a:r>
              <a:rPr/>
              <a:t> Dynamic infographics adapting to learner comprehension</a:t>
            </a:r>
          </a:p>
          <a:p>
            <a:pPr lvl="0"/>
            <a:r>
              <a:rPr b="1"/>
              <a:t>Multimedia Magazines:</a:t>
            </a:r>
            <a:r>
              <a:rPr/>
              <a:t> Dynamic layouts with AI-curated content paths</a:t>
            </a:r>
          </a:p>
          <a:p>
            <a:pPr lvl="0"/>
            <a:r>
              <a:rPr b="1"/>
              <a:t>GenAI Podcasts:</a:t>
            </a:r>
            <a:r>
              <a:rPr/>
              <a:t> Auto-generated reviews and discussions of learning materials</a:t>
            </a:r>
          </a:p>
          <a:p>
            <a:pPr lvl="0"/>
            <a:r>
              <a:rPr b="1"/>
              <a:t>Interactive Publications:</a:t>
            </a:r>
            <a:r>
              <a:rPr/>
              <a:t> “Talk-to-a-doc” conversational interfaces for papers/textbooks</a:t>
            </a:r>
          </a:p>
          <a:p>
            <a:pPr lvl="0"/>
            <a:r>
              <a:rPr b="1"/>
              <a:t>Adaptive Learning Styles:</a:t>
            </a:r>
            <a:r>
              <a:rPr/>
              <a:t> Systems that support diverse learning preferences across modalities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2025-11-22T22:06:19Z</dcterms:created>
  <dcterms:modified xsi:type="dcterms:W3CDTF">2025-11-22T22:06:19Z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