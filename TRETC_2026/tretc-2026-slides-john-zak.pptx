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Economies: Transforming Education in the AI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Framework for Educators, Administrators, and Policymakers</a:t>
            </a:r>
          </a:p>
          <a:p>
            <a:pPr lvl="0" indent="0" marL="0">
              <a:buNone/>
            </a:pPr>
            <a:r>
              <a:rPr b="1"/>
              <a:t>30-Minute Presentation for Educator Conference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Economies: Transforming Education in the AI 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Five Fundamental Modes of Human Capital Creation</a:t>
            </a:r>
          </a:p>
          <a:p>
            <a:pPr lvl="0" indent="0" marL="0">
              <a:buNone/>
            </a:pPr>
            <a:r>
              <a:rPr b="1"/>
              <a:t>Objective:</a:t>
            </a:r>
            <a:r>
              <a:rPr/>
              <a:t> A practical roadmap for leveraging AI in the classroom, and design measurements for learning.</a:t>
            </a:r>
          </a:p>
          <a:p>
            <a:pPr lvl="0" indent="0" marL="0">
              <a:buNone/>
            </a:pPr>
            <a:r>
              <a:rPr b="1"/>
              <a:t>Presented by:</a:t>
            </a:r>
            <a:r>
              <a:rPr/>
              <a:t> [Your Name] </a:t>
            </a:r>
            <a:r>
              <a:rPr b="1"/>
              <a:t>Conference:</a:t>
            </a:r>
            <a:r>
              <a:rPr/>
              <a:t> [Conference Name] </a:t>
            </a:r>
            <a:r>
              <a:rPr b="1"/>
              <a:t>Date:</a:t>
            </a:r>
            <a:r>
              <a:rPr/>
              <a:t> [Date]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is fundamentally changing how humans learn and create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Traditional education models assume </a:t>
            </a:r>
            <a:r>
              <a:rPr b="1"/>
              <a:t>linear progression</a:t>
            </a:r>
            <a:r>
              <a:rPr/>
              <a:t> through single domains</a:t>
            </a:r>
          </a:p>
          <a:p>
            <a:pPr lvl="0"/>
            <a:r>
              <a:rPr/>
              <a:t>AI accelerates learning by </a:t>
            </a:r>
            <a:r>
              <a:rPr b="1"/>
              <a:t>10-100x</a:t>
            </a:r>
            <a:r>
              <a:rPr/>
              <a:t> across all knowledge areas</a:t>
            </a:r>
          </a:p>
          <a:p>
            <a:pPr lvl="0"/>
            <a:r>
              <a:rPr/>
              <a:t>Current credentialing systems become </a:t>
            </a:r>
            <a:r>
              <a:rPr b="1"/>
              <a:t>obsolete</a:t>
            </a:r>
            <a:r>
              <a:rPr/>
              <a:t> as learning velocity increases</a:t>
            </a:r>
          </a:p>
          <a:p>
            <a:pPr lvl="0"/>
            <a:r>
              <a:rPr b="1"/>
              <a:t>Question:</a:t>
            </a:r>
            <a:r>
              <a:rPr/>
              <a:t> How do we prepare learners for an economy where learning speed determines competitive advantage?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“Learning Economies”?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Framework for Understanding Learning Speed and Quality</a:t>
            </a:r>
          </a:p>
          <a:p>
            <a:pPr lvl="0" indent="0" marL="0">
              <a:buNone/>
            </a:pPr>
            <a:r>
              <a:rPr b="1"/>
              <a:t>Definition:</a:t>
            </a:r>
            <a:r>
              <a:rPr/>
              <a:t> “Learning Economies” can be thought of as: - </a:t>
            </a:r>
            <a:r>
              <a:rPr b="1"/>
              <a:t>Learning efficiencies</a:t>
            </a:r>
            <a:r>
              <a:rPr/>
              <a:t> - How effectively knowledge is acquired - </a:t>
            </a:r>
            <a:r>
              <a:rPr b="1"/>
              <a:t>Learning dynamics</a:t>
            </a:r>
            <a:r>
              <a:rPr/>
              <a:t> - The patterns and flows of knowledge creation - </a:t>
            </a:r>
            <a:r>
              <a:rPr b="1"/>
              <a:t>Competency frameworks</a:t>
            </a:r>
            <a:r>
              <a:rPr/>
              <a:t> - Structures for measuring and developing capabilities</a:t>
            </a:r>
          </a:p>
          <a:p>
            <a:pPr lvl="0" indent="0" marL="0">
              <a:buNone/>
            </a:pPr>
            <a:r>
              <a:rPr b="1"/>
              <a:t>Core Focus:</a:t>
            </a:r>
            <a:r>
              <a:rPr/>
              <a:t> The adaptation and systemics of learning speed and quality</a:t>
            </a:r>
          </a:p>
          <a:p>
            <a:pPr lvl="0" indent="0" marL="0">
              <a:buNone/>
            </a:pPr>
            <a:r>
              <a:rPr b="1"/>
              <a:t>Key Questions This Framework Addresses:</a:t>
            </a:r>
            <a:r>
              <a:rPr/>
              <a:t> - What modifications to instructional or pedagogical models occur when we accelerate these ‘learning economies’? - What knowledge architectures best support Agentic AI to support learners + educators? - How do we reconsider mastery models and learning progressions in an AI-accelerated world?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Learning Economies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new taxonomy for understanding human capital creation</a:t>
            </a:r>
          </a:p>
          <a:p>
            <a:pPr lvl="0" indent="-342900" marL="342900">
              <a:buAutoNum type="arabicPeriod"/>
            </a:pPr>
            <a:r>
              <a:rPr b="1"/>
              <a:t>Breadth</a:t>
            </a:r>
            <a:r>
              <a:rPr/>
              <a:t> - Multi-subject mastery and parallel domain competency</a:t>
            </a:r>
          </a:p>
          <a:p>
            <a:pPr lvl="0" indent="-342900" marL="342900">
              <a:buAutoNum type="arabicPeriod"/>
            </a:pPr>
            <a:r>
              <a:rPr b="1"/>
              <a:t>Depth</a:t>
            </a:r>
            <a:r>
              <a:rPr/>
              <a:t> - Time-to-competence optimization and acceleration</a:t>
            </a:r>
          </a:p>
          <a:p>
            <a:pPr lvl="0" indent="-342900" marL="342900">
              <a:buAutoNum type="arabicPeriod"/>
            </a:pPr>
            <a:r>
              <a:rPr b="1"/>
              <a:t>Subset</a:t>
            </a:r>
            <a:r>
              <a:rPr/>
              <a:t> - Career mobility through rapid retraining</a:t>
            </a:r>
          </a:p>
          <a:p>
            <a:pPr lvl="0" indent="-342900" marL="342900">
              <a:buAutoNum type="arabicPeriod"/>
            </a:pPr>
            <a:r>
              <a:rPr b="1"/>
              <a:t>Superset</a:t>
            </a:r>
            <a:r>
              <a:rPr/>
              <a:t> - Field reinvention and creative destruction</a:t>
            </a:r>
          </a:p>
          <a:p>
            <a:pPr lvl="0" indent="-342900" marL="342900">
              <a:buAutoNum type="arabicPeriod"/>
            </a:pPr>
            <a:r>
              <a:rPr b="1"/>
              <a:t>Network-form</a:t>
            </a:r>
            <a:r>
              <a:rPr/>
              <a:t> - Multi-scale knowledge routing and synthesis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These aren’t competing alternatives—they form an integrated system where </a:t>
            </a:r>
            <a:r>
              <a:rPr b="1"/>
              <a:t>Resonance</a:t>
            </a:r>
            <a:r>
              <a:rPr/>
              <a:t> enables flow between economies.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Breadth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Multi-Subject / Multi-Degree Mastery</a:t>
            </a:r>
          </a:p>
          <a:p>
            <a:pPr lvl="0" indent="0" marL="0">
              <a:buNone/>
            </a:pPr>
            <a:r>
              <a:rPr b="1"/>
              <a:t>Current State:</a:t>
            </a:r>
          </a:p>
          <a:p>
            <a:pPr lvl="0"/>
            <a:r>
              <a:rPr/>
              <a:t>High school requires broad exposure (GPA measures breadth navigation)</a:t>
            </a:r>
          </a:p>
          <a:p>
            <a:pPr lvl="0"/>
            <a:r>
              <a:rPr/>
              <a:t>Undergraduate programs emphasize single-field depth</a:t>
            </a:r>
          </a:p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/>
              <a:t>Students acquire multiple undergraduate/graduate degrees simultaneously</a:t>
            </a:r>
          </a:p>
          <a:p>
            <a:pPr lvl="0"/>
            <a:r>
              <a:rPr/>
              <a:t>Portfolio breadth becomes the new metric</a:t>
            </a:r>
          </a:p>
          <a:p>
            <a:pPr lvl="0"/>
            <a:r>
              <a:rPr/>
              <a:t>Think: Multi-core processor vs single-thread performance</a:t>
            </a:r>
          </a:p>
          <a:p>
            <a:pPr lvl="0" indent="0" marL="0">
              <a:buNone/>
            </a:pPr>
            <a:r>
              <a:rPr b="1"/>
              <a:t>Metrics:</a:t>
            </a:r>
          </a:p>
          <a:p>
            <a:pPr lvl="0"/>
            <a:r>
              <a:rPr/>
              <a:t>Number of parallel intellectual pipelines sustained</a:t>
            </a:r>
          </a:p>
          <a:p>
            <a:pPr lvl="0"/>
            <a:r>
              <a:rPr/>
              <a:t>Diversity index of fields mastered</a:t>
            </a:r>
          </a:p>
          <a:p>
            <a:pPr lvl="0"/>
            <a:r>
              <a:rPr/>
              <a:t>Time to proficiency across unrelated subjects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Depth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Acceleration to Mastery</a:t>
            </a:r>
          </a:p>
          <a:p>
            <a:pPr lvl="0" indent="0" marL="0">
              <a:buNone/>
            </a:pPr>
            <a:r>
              <a:rPr b="1"/>
              <a:t>Current State:</a:t>
            </a:r>
          </a:p>
          <a:p>
            <a:pPr lvl="0"/>
            <a:r>
              <a:rPr/>
              <a:t>Some students “blast through” high school → undergrad → PhD rapidly</a:t>
            </a:r>
          </a:p>
          <a:p>
            <a:pPr lvl="0"/>
            <a:r>
              <a:rPr/>
              <a:t>Traditional bottlenecks: lectures, lab failures, bureaucratic prerequisites</a:t>
            </a:r>
          </a:p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/>
              <a:t>Personalized acceleration normalizes PhD-level mastery in late teens</a:t>
            </a:r>
          </a:p>
          <a:p>
            <a:pPr lvl="0"/>
            <a:r>
              <a:rPr/>
              <a:t>AI scaffolding removes time bottlenecks</a:t>
            </a:r>
          </a:p>
          <a:p>
            <a:pPr lvl="0"/>
            <a:r>
              <a:rPr/>
              <a:t>Think: Single-threaded processor optimized for maximum speed</a:t>
            </a:r>
          </a:p>
          <a:p>
            <a:pPr lvl="0" indent="0" marL="0">
              <a:buNone/>
            </a:pPr>
            <a:r>
              <a:rPr b="1"/>
              <a:t>Metrics:</a:t>
            </a:r>
          </a:p>
          <a:p>
            <a:pPr lvl="0"/>
            <a:r>
              <a:rPr/>
              <a:t>Shortest time to PhD-level mastery</a:t>
            </a:r>
          </a:p>
          <a:p>
            <a:pPr lvl="0"/>
            <a:r>
              <a:rPr/>
              <a:t>Hours of deliberate practice to independent problem-solving</a:t>
            </a:r>
          </a:p>
          <a:p>
            <a:pPr lvl="0"/>
            <a:r>
              <a:rPr/>
              <a:t>Time to 90th percentile performance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Subset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Vocational / Career Re-Training</a:t>
            </a:r>
          </a:p>
          <a:p>
            <a:pPr lvl="0" indent="0" marL="0">
              <a:buNone/>
            </a:pPr>
            <a:r>
              <a:rPr b="1"/>
              <a:t>Current State:</a:t>
            </a:r>
          </a:p>
          <a:p>
            <a:pPr lvl="0"/>
            <a:r>
              <a:rPr/>
              <a:t>Professionals switch careers 2-3 times in life</a:t>
            </a:r>
          </a:p>
          <a:p>
            <a:pPr lvl="0"/>
            <a:r>
              <a:rPr/>
              <a:t>Retraining takes years (coding bootcamps, nursing certifications)</a:t>
            </a:r>
          </a:p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/>
              <a:t>Real-time vocational retraining</a:t>
            </a:r>
          </a:p>
          <a:p>
            <a:pPr lvl="0"/>
            <a:r>
              <a:rPr/>
              <a:t>Career pivots compressed to months or weeks</a:t>
            </a:r>
          </a:p>
          <a:p>
            <a:pPr lvl="0"/>
            <a:r>
              <a:rPr/>
              <a:t>Think: Multi-adapter socket—how many fields can you plug into?</a:t>
            </a:r>
          </a:p>
          <a:p>
            <a:pPr lvl="0" indent="0" marL="0">
              <a:buNone/>
            </a:pPr>
            <a:r>
              <a:rPr b="1"/>
              <a:t>Key Enabler:</a:t>
            </a:r>
            <a:r>
              <a:rPr/>
              <a:t> </a:t>
            </a:r>
            <a:r>
              <a:rPr b="1"/>
              <a:t>Resonance</a:t>
            </a:r>
            <a:r>
              <a:rPr/>
              <a:t> - granular skills and cognitive patterns that transfer between domains</a:t>
            </a:r>
          </a:p>
          <a:p>
            <a:pPr lvl="0" indent="0" marL="0">
              <a:buNone/>
            </a:pPr>
            <a:r>
              <a:rPr b="1"/>
              <a:t>Metrics:</a:t>
            </a:r>
          </a:p>
          <a:p>
            <a:pPr lvl="0"/>
            <a:r>
              <a:rPr/>
              <a:t>Number of distinct professional fields mastered</a:t>
            </a:r>
          </a:p>
          <a:p>
            <a:pPr lvl="0"/>
            <a:r>
              <a:rPr/>
              <a:t>Average retraining time to employability</a:t>
            </a:r>
          </a:p>
          <a:p>
            <a:pPr lvl="0"/>
            <a:r>
              <a:rPr/>
              <a:t>Frequency and speed of successful career pivots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Example - ASU Microcredentials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Subset Economy in Practice</a:t>
            </a:r>
          </a:p>
          <a:p>
            <a:pPr lvl="0" indent="0" marL="0">
              <a:buNone/>
            </a:pPr>
            <a:r>
              <a:rPr b="1"/>
              <a:t>Arizona State University’s Model:</a:t>
            </a:r>
          </a:p>
          <a:p>
            <a:pPr lvl="0"/>
            <a:r>
              <a:rPr b="1"/>
              <a:t>Modular micro-badges:</a:t>
            </a:r>
            <a:r>
              <a:rPr/>
              <a:t> 10-15 hour focused skill courses</a:t>
            </a:r>
          </a:p>
          <a:p>
            <a:pPr lvl="0"/>
            <a:r>
              <a:rPr b="1"/>
              <a:t>Stackable design:</a:t>
            </a:r>
            <a:r>
              <a:rPr/>
              <a:t> Multiple badges = full microcredential</a:t>
            </a:r>
          </a:p>
          <a:p>
            <a:pPr lvl="0"/>
            <a:r>
              <a:rPr b="1"/>
              <a:t>Leveled progression:</a:t>
            </a:r>
            <a:r>
              <a:rPr/>
              <a:t> Levels 1-4 from introduction to advanced application</a:t>
            </a:r>
          </a:p>
          <a:p>
            <a:pPr lvl="0"/>
            <a:r>
              <a:rPr b="1"/>
              <a:t>Industry-aligned:</a:t>
            </a:r>
            <a:r>
              <a:rPr/>
              <a:t> Direct connection to workforce needs</a:t>
            </a:r>
          </a:p>
          <a:p>
            <a:pPr lvl="0"/>
            <a:r>
              <a:rPr b="1"/>
              <a:t>Pathways to degrees:</a:t>
            </a:r>
            <a:r>
              <a:rPr/>
              <a:t> Credentials can stack toward graduate programs</a:t>
            </a:r>
          </a:p>
          <a:p>
            <a:pPr lvl="0" indent="0" marL="0">
              <a:buNone/>
            </a:pPr>
            <a:r>
              <a:rPr b="1"/>
              <a:t>Why It Works:</a:t>
            </a:r>
          </a:p>
          <a:p>
            <a:pPr lvl="0"/>
            <a:r>
              <a:rPr/>
              <a:t>Low barrier to entry for career transitions</a:t>
            </a:r>
          </a:p>
          <a:p>
            <a:pPr lvl="0"/>
            <a:r>
              <a:rPr/>
              <a:t>Rapid skill acquisition (weeks, not years)</a:t>
            </a:r>
          </a:p>
          <a:p>
            <a:pPr lvl="0"/>
            <a:r>
              <a:rPr/>
              <a:t>Digital badges for portable credentials</a:t>
            </a:r>
          </a:p>
          <a:p>
            <a:pPr lvl="0"/>
            <a:r>
              <a:rPr/>
              <a:t>Flexible, affordable, accessible</a:t>
            </a:r>
          </a:p>
          <a:p>
            <a:pPr lvl="0"/>
            <a:r>
              <a:rPr/>
              <a:t>Agility to respond to market changes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Thousands of credentials issued, supporting rapid career pivots and lifelong learning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Superset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Field Reinvention / Obviation</a:t>
            </a:r>
          </a:p>
          <a:p>
            <a:pPr lvl="0" indent="0" marL="0">
              <a:buNone/>
            </a:pPr>
            <a:r>
              <a:rPr b="1"/>
              <a:t>The Most Transformative Economy</a:t>
            </a:r>
          </a:p>
          <a:p>
            <a:pPr lvl="0" indent="0" marL="0">
              <a:buNone/>
            </a:pPr>
            <a:r>
              <a:rPr b="1"/>
              <a:t>Historical Examples:</a:t>
            </a:r>
          </a:p>
          <a:p>
            <a:pPr lvl="0"/>
            <a:r>
              <a:rPr/>
              <a:t>Jacquard loom eliminated artisanal weaving</a:t>
            </a:r>
          </a:p>
          <a:p>
            <a:pPr lvl="0"/>
            <a:r>
              <a:rPr/>
              <a:t>Digital calculator obsoleted logarithmic tables</a:t>
            </a:r>
          </a:p>
          <a:p>
            <a:pPr lvl="0"/>
            <a:r>
              <a:rPr/>
              <a:t>GPS obviated celestial navigation</a:t>
            </a:r>
          </a:p>
          <a:p>
            <a:pPr lvl="0"/>
            <a:r>
              <a:rPr/>
              <a:t>Digital photography eliminated darkroom chemistry</a:t>
            </a:r>
          </a:p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/>
              <a:t>AI-generated code may obviate day-to-day programming</a:t>
            </a:r>
          </a:p>
          <a:p>
            <a:pPr lvl="0"/>
            <a:r>
              <a:rPr/>
              <a:t>AI medical diagnostics could transform radiology</a:t>
            </a:r>
          </a:p>
          <a:p>
            <a:pPr lvl="0"/>
            <a:r>
              <a:rPr/>
              <a:t>Field-level disruption compressed from decades to years</a:t>
            </a:r>
          </a:p>
          <a:p>
            <a:pPr lvl="0" indent="0" marL="0">
              <a:buNone/>
            </a:pPr>
            <a:r>
              <a:rPr b="1"/>
              <a:t>Metrics:</a:t>
            </a:r>
          </a:p>
          <a:p>
            <a:pPr lvl="0"/>
            <a:r>
              <a:rPr/>
              <a:t>Number of fields successfully obsoleted</a:t>
            </a:r>
          </a:p>
          <a:p>
            <a:pPr lvl="0"/>
            <a:r>
              <a:rPr/>
              <a:t>Time from field exposure to creating its replacement</a:t>
            </a:r>
          </a:p>
          <a:p>
            <a:pPr lvl="0"/>
            <a:r>
              <a:rPr/>
              <a:t>Economic impact multiplier of field reinvention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Network-form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Multi-Scale Knowledge Routing</a:t>
            </a:r>
          </a:p>
          <a:p>
            <a:pPr lvl="0" indent="0" marL="0">
              <a:buNone/>
            </a:pPr>
            <a:r>
              <a:rPr b="1"/>
              <a:t>Current State:</a:t>
            </a:r>
          </a:p>
          <a:p>
            <a:pPr lvl="0"/>
            <a:r>
              <a:rPr/>
              <a:t>Emerging in hyperlinked knowledge systems (Wikipedia, GitHub, academic citations)</a:t>
            </a:r>
          </a:p>
          <a:p>
            <a:pPr lvl="0"/>
            <a:r>
              <a:rPr/>
              <a:t>Knowledge graphs mapping granular findings to field-wide models</a:t>
            </a:r>
          </a:p>
          <a:p>
            <a:pPr lvl="0" indent="0" marL="0">
              <a:buNone/>
            </a:pPr>
            <a:r>
              <a:rPr b="1"/>
              <a:t>AI-Accelerated Future:</a:t>
            </a:r>
          </a:p>
          <a:p>
            <a:pPr lvl="0"/>
            <a:r>
              <a:rPr/>
              <a:t>AI optimizes connections between knowledge scales</a:t>
            </a:r>
          </a:p>
          <a:p>
            <a:pPr lvl="0"/>
            <a:r>
              <a:rPr/>
              <a:t>Multi-scale navigation becomes core competency</a:t>
            </a:r>
          </a:p>
          <a:p>
            <a:pPr lvl="0"/>
            <a:r>
              <a:rPr/>
              <a:t>Think: GPS that works conceptually—finding optimal paths between different scales of understanding</a:t>
            </a:r>
          </a:p>
          <a:p>
            <a:pPr lvl="0" indent="0" marL="0">
              <a:buNone/>
            </a:pPr>
            <a:r>
              <a:rPr b="1"/>
              <a:t>Metrics:</a:t>
            </a:r>
          </a:p>
          <a:p>
            <a:pPr lvl="0"/>
            <a:r>
              <a:rPr/>
              <a:t>Number of distinct scale traversals navigated</a:t>
            </a:r>
          </a:p>
          <a:p>
            <a:pPr lvl="0"/>
            <a:r>
              <a:rPr/>
              <a:t>Compression ratio achieved through knowledge topology</a:t>
            </a:r>
          </a:p>
          <a:p>
            <a:pPr lvl="0"/>
            <a:r>
              <a:rPr/>
              <a:t>Discovery rate of emergent properties through cross-scale navigation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Resonance - The Universal Transfer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knowledge flows between economies</a:t>
            </a:r>
          </a:p>
          <a:p>
            <a:pPr lvl="0" indent="0" marL="0">
              <a:buNone/>
            </a:pPr>
            <a:r>
              <a:rPr b="1"/>
              <a:t>Resonance enables:</a:t>
            </a:r>
          </a:p>
          <a:p>
            <a:pPr lvl="0"/>
            <a:r>
              <a:rPr b="1"/>
              <a:t>Subset Mobility:</a:t>
            </a:r>
            <a:r>
              <a:rPr/>
              <a:t> Statistical thinking moves from physics → finance → marketing</a:t>
            </a:r>
          </a:p>
          <a:p>
            <a:pPr lvl="0"/>
            <a:r>
              <a:rPr b="1"/>
              <a:t>Superset Disruption:</a:t>
            </a:r>
            <a:r>
              <a:rPr/>
              <a:t> Digital photography emerged from electronics + optics + chemistry synthesis</a:t>
            </a:r>
          </a:p>
          <a:p>
            <a:pPr lvl="0"/>
            <a:r>
              <a:rPr b="1"/>
              <a:t>Network-form Navigation:</a:t>
            </a:r>
            <a:r>
              <a:rPr/>
              <a:t> Molecular biology insights connect to ecosystem dynamics</a:t>
            </a:r>
          </a:p>
          <a:p>
            <a:pPr lvl="0" indent="0" marL="0">
              <a:buNone/>
            </a:pPr>
            <a:r>
              <a:rPr b="1"/>
              <a:t>AI Amplifies Resonance by:</a:t>
            </a:r>
          </a:p>
          <a:p>
            <a:pPr lvl="0"/>
            <a:r>
              <a:rPr/>
              <a:t>Making cross-domain patterns more visible</a:t>
            </a:r>
          </a:p>
          <a:p>
            <a:pPr lvl="0"/>
            <a:r>
              <a:rPr/>
              <a:t>Surfacing non-obvious transfer opportunities</a:t>
            </a:r>
          </a:p>
          <a:p>
            <a:pPr lvl="0"/>
            <a:r>
              <a:rPr/>
              <a:t>Enabling synthesis across domains and scales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Resonance isn’t just “skill transfer”—it’s recognition of deep structural similarities that allow knowledge to flow and recombine.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as Learning Economy Accelerator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Beyond “Symbiosis” Models</a:t>
            </a:r>
          </a:p>
          <a:p>
            <a:pPr lvl="0" indent="0" marL="0">
              <a:buNone/>
            </a:pPr>
            <a:r>
              <a:rPr b="1"/>
              <a:t>What AI Actually Does:</a:t>
            </a:r>
          </a:p>
          <a:p>
            <a:pPr lvl="0"/>
            <a:r>
              <a:rPr b="1"/>
              <a:t>Accelerates existing principles</a:t>
            </a:r>
            <a:r>
              <a:rPr/>
              <a:t> rather than creating new economies</a:t>
            </a:r>
          </a:p>
          <a:p>
            <a:pPr lvl="0"/>
            <a:r>
              <a:rPr b="1"/>
              <a:t>Differential capabilities:</a:t>
            </a:r>
            <a:r>
              <a:rPr/>
              <a:t> Speed, scale, pattern recognition</a:t>
            </a:r>
          </a:p>
          <a:p>
            <a:pPr lvl="0"/>
            <a:r>
              <a:rPr b="1"/>
              <a:t>Multi-scale granule routing</a:t>
            </a:r>
            <a:r>
              <a:rPr/>
              <a:t> optimization</a:t>
            </a:r>
          </a:p>
          <a:p>
            <a:pPr lvl="0"/>
            <a:r>
              <a:rPr b="1"/>
              <a:t>Dynamic pathway generation</a:t>
            </a:r>
            <a:r>
              <a:rPr/>
              <a:t> between knowledge domains</a:t>
            </a:r>
          </a:p>
          <a:p>
            <a:pPr lvl="0" indent="0" marL="0">
              <a:buNone/>
            </a:pPr>
            <a:r>
              <a:rPr b="1"/>
              <a:t>What AI Doesn’t Do:</a:t>
            </a:r>
          </a:p>
          <a:p>
            <a:pPr lvl="0"/>
            <a:r>
              <a:rPr/>
              <a:t>Create fundamentally new learning economies</a:t>
            </a:r>
          </a:p>
          <a:p>
            <a:pPr lvl="0"/>
            <a:r>
              <a:rPr/>
              <a:t>Replace human cross-domain pattern recognition</a:t>
            </a:r>
          </a:p>
          <a:p>
            <a:pPr lvl="0"/>
            <a:r>
              <a:rPr/>
              <a:t>Eliminate the need for meta-competencies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AI amplifies all five economies simultaneously, making learning velocity the primary competitive advantage.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Economic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When learning velocity increases 10-100x</a:t>
            </a:r>
          </a:p>
          <a:p>
            <a:pPr lvl="0" indent="0" marL="0">
              <a:buNone/>
            </a:pPr>
            <a:r>
              <a:rPr b="1"/>
              <a:t>Labor Market Transformations:</a:t>
            </a:r>
          </a:p>
          <a:p>
            <a:pPr lvl="0"/>
            <a:r>
              <a:rPr b="1"/>
              <a:t>End of Career Specialization:</a:t>
            </a:r>
            <a:r>
              <a:rPr/>
              <a:t> Workers become Learning Economy Portfolio Managers</a:t>
            </a:r>
          </a:p>
          <a:p>
            <a:pPr lvl="0"/>
            <a:r>
              <a:rPr b="1"/>
              <a:t>Superset-Driven Creative Destruction:</a:t>
            </a:r>
            <a:r>
              <a:rPr/>
              <a:t> Industry disruption compressed from decades to years</a:t>
            </a:r>
          </a:p>
          <a:p>
            <a:pPr lvl="0"/>
            <a:r>
              <a:rPr b="1"/>
              <a:t>Network-form Premium:</a:t>
            </a:r>
            <a:r>
              <a:rPr/>
              <a:t> Multi-scale navigators command salary premiums</a:t>
            </a:r>
          </a:p>
          <a:p>
            <a:pPr lvl="0" indent="0" marL="0">
              <a:buNone/>
            </a:pPr>
            <a:r>
              <a:rPr b="1"/>
              <a:t>New Forms of Knowledge Capital:</a:t>
            </a:r>
          </a:p>
          <a:p>
            <a:pPr lvl="0"/>
            <a:r>
              <a:rPr b="1"/>
              <a:t>Dynamic Competency Assets:</a:t>
            </a:r>
            <a:r>
              <a:rPr/>
              <a:t> Human capital becomes liquid and real-time adjustable</a:t>
            </a:r>
          </a:p>
          <a:p>
            <a:pPr lvl="0"/>
            <a:r>
              <a:rPr b="1"/>
              <a:t>Resonance Multipliers:</a:t>
            </a:r>
            <a:r>
              <a:rPr/>
              <a:t> Pattern-recognition specialists command premium compensation</a:t>
            </a:r>
          </a:p>
          <a:p>
            <a:pPr lvl="0"/>
            <a:r>
              <a:rPr b="1"/>
              <a:t>Learning Velocity as Currency:</a:t>
            </a:r>
            <a:r>
              <a:rPr/>
              <a:t> Organizations invest in individuals’ learning potential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Institutional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Credential Lag Problem</a:t>
            </a:r>
          </a:p>
          <a:p>
            <a:pPr lvl="0" indent="0" marL="0">
              <a:buNone/>
            </a:pPr>
            <a:r>
              <a:rPr b="1"/>
              <a:t>Current Issues:</a:t>
            </a:r>
          </a:p>
          <a:p>
            <a:pPr lvl="0"/>
            <a:r>
              <a:rPr/>
              <a:t>Traditional institutions validate competencies after AI has accelerated past those benchmarks</a:t>
            </a:r>
          </a:p>
          <a:p>
            <a:pPr lvl="0"/>
            <a:r>
              <a:rPr/>
              <a:t>Single-threaded degree programs become inadequate</a:t>
            </a:r>
          </a:p>
          <a:p>
            <a:pPr lvl="0"/>
            <a:r>
              <a:rPr/>
              <a:t>Departmental silos prevent cross-economy learning</a:t>
            </a:r>
          </a:p>
          <a:p>
            <a:pPr lvl="0" indent="0" marL="0">
              <a:buNone/>
            </a:pPr>
            <a:r>
              <a:rPr b="1"/>
              <a:t>Progressive Responses:</a:t>
            </a:r>
          </a:p>
          <a:p>
            <a:pPr lvl="0"/>
            <a:r>
              <a:rPr/>
              <a:t>Partner directly with AI systems for continuous assessment</a:t>
            </a:r>
          </a:p>
          <a:p>
            <a:pPr lvl="0"/>
            <a:r>
              <a:rPr/>
              <a:t>Create “learning velocity leagues” competing on acceleration metrics</a:t>
            </a:r>
          </a:p>
          <a:p>
            <a:pPr lvl="0"/>
            <a:r>
              <a:rPr/>
              <a:t>Develop expertise in meta-learning across all five economies</a:t>
            </a:r>
          </a:p>
          <a:p>
            <a:pPr lvl="0" indent="0" marL="0">
              <a:buNone/>
            </a:pPr>
            <a:r>
              <a:rPr b="1"/>
              <a:t>Survival Strategy:</a:t>
            </a:r>
            <a:r>
              <a:rPr/>
              <a:t> Become </a:t>
            </a:r>
            <a:r>
              <a:rPr b="1"/>
              <a:t>Learning Economy Orchestrators</a:t>
            </a:r>
            <a:r>
              <a:rPr/>
              <a:t> rather than knowledge repositories.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Applications for Educators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Knowledge Transmission to Learning Economy Architecture</a:t>
            </a:r>
          </a:p>
          <a:p>
            <a:pPr lvl="0" indent="0" marL="0">
              <a:buNone/>
            </a:pPr>
            <a:r>
              <a:rPr b="1"/>
              <a:t>Design Experiences That:</a:t>
            </a:r>
          </a:p>
          <a:p>
            <a:pPr lvl="0"/>
            <a:r>
              <a:rPr/>
              <a:t>Develop competency across all five economies</a:t>
            </a:r>
          </a:p>
          <a:p>
            <a:pPr lvl="0"/>
            <a:r>
              <a:rPr/>
              <a:t>Strengthen Resonance capabilities in students</a:t>
            </a:r>
          </a:p>
          <a:p>
            <a:pPr lvl="0"/>
            <a:r>
              <a:rPr/>
              <a:t>Enable fluid navigation between learning modes</a:t>
            </a:r>
          </a:p>
          <a:p>
            <a:pPr lvl="0" indent="0" marL="0">
              <a:buNone/>
            </a:pPr>
            <a:r>
              <a:rPr b="1"/>
              <a:t>New Teaching Roles:</a:t>
            </a:r>
          </a:p>
          <a:p>
            <a:pPr lvl="0"/>
            <a:r>
              <a:rPr b="1"/>
              <a:t>Breadth Orchestration:</a:t>
            </a:r>
            <a:r>
              <a:rPr/>
              <a:t> Managing parallel domain mastery</a:t>
            </a:r>
          </a:p>
          <a:p>
            <a:pPr lvl="0"/>
            <a:r>
              <a:rPr b="1"/>
              <a:t>Depth Acceleration:</a:t>
            </a:r>
            <a:r>
              <a:rPr/>
              <a:t> Optimizing time-to-competence</a:t>
            </a:r>
          </a:p>
          <a:p>
            <a:pPr lvl="0"/>
            <a:r>
              <a:rPr b="1"/>
              <a:t>Network-form Routing:</a:t>
            </a:r>
            <a:r>
              <a:rPr/>
              <a:t> Teaching multi-scale navigation</a:t>
            </a:r>
          </a:p>
          <a:p>
            <a:pPr lvl="0"/>
            <a:r>
              <a:rPr b="1"/>
              <a:t>Resonance Coaching:</a:t>
            </a:r>
            <a:r>
              <a:rPr/>
              <a:t> Identifying cross-domain transfer patterns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Applications for Administrators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Building Learning Economy Infrastructure</a:t>
            </a:r>
          </a:p>
          <a:p>
            <a:pPr lvl="0" indent="0" marL="0">
              <a:buNone/>
            </a:pPr>
            <a:r>
              <a:rPr b="1"/>
              <a:t>Institutional Restructuring:</a:t>
            </a:r>
          </a:p>
          <a:p>
            <a:pPr lvl="0"/>
            <a:r>
              <a:rPr b="1"/>
              <a:t>Resonance Clusters:</a:t>
            </a:r>
            <a:r>
              <a:rPr/>
              <a:t> Interdisciplinary groups focused on cross-domain transfer</a:t>
            </a:r>
          </a:p>
          <a:p>
            <a:pPr lvl="0"/>
            <a:r>
              <a:rPr b="1"/>
              <a:t>Scale Navigation Labs:</a:t>
            </a:r>
            <a:r>
              <a:rPr/>
              <a:t> Spaces for micro-to-macro knowledge routing</a:t>
            </a:r>
          </a:p>
          <a:p>
            <a:pPr lvl="0"/>
            <a:r>
              <a:rPr b="1"/>
              <a:t>Disruption Incubators:</a:t>
            </a:r>
            <a:r>
              <a:rPr/>
              <a:t> Environments for Superset innovation</a:t>
            </a:r>
          </a:p>
          <a:p>
            <a:pPr lvl="0" indent="0" marL="0">
              <a:buNone/>
            </a:pPr>
            <a:r>
              <a:rPr b="1"/>
              <a:t>Assessment Evolution:</a:t>
            </a:r>
          </a:p>
          <a:p>
            <a:pPr lvl="0"/>
            <a:r>
              <a:rPr b="1"/>
              <a:t>Portfolio-Based Assessment:</a:t>
            </a:r>
            <a:r>
              <a:rPr/>
              <a:t> Dynamic portfolios measuring all five economies</a:t>
            </a:r>
          </a:p>
          <a:p>
            <a:pPr lvl="0"/>
            <a:r>
              <a:rPr b="1"/>
              <a:t>Real-Time Competency Tracking:</a:t>
            </a:r>
            <a:r>
              <a:rPr/>
              <a:t> AI-powered continuous evaluation</a:t>
            </a:r>
          </a:p>
          <a:p>
            <a:pPr lvl="0"/>
            <a:r>
              <a:rPr b="1"/>
              <a:t>Fluid Credentials:</a:t>
            </a:r>
            <a:r>
              <a:rPr/>
              <a:t> Reflecting current capabilities, not historical achievements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Practical Applications for Policymakers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Learning Economy Infrastructure Development</a:t>
            </a:r>
          </a:p>
          <a:p>
            <a:pPr lvl="0" indent="0" marL="0">
              <a:buNone/>
            </a:pPr>
            <a:r>
              <a:rPr b="1"/>
              <a:t>Economic Development Strategy:</a:t>
            </a:r>
          </a:p>
          <a:p>
            <a:pPr lvl="0"/>
            <a:r>
              <a:rPr/>
              <a:t>Focus on building institutional foundations for rapid learning acceleration</a:t>
            </a:r>
          </a:p>
          <a:p>
            <a:pPr lvl="0"/>
            <a:r>
              <a:rPr/>
              <a:t>Create competitive advantage through learning velocity</a:t>
            </a:r>
          </a:p>
          <a:p>
            <a:pPr lvl="0"/>
            <a:r>
              <a:rPr/>
              <a:t>Foster all five Learning Economies simultaneously for resilience</a:t>
            </a:r>
          </a:p>
          <a:p>
            <a:pPr lvl="0" indent="0" marL="0">
              <a:buNone/>
            </a:pPr>
            <a:r>
              <a:rPr b="1"/>
              <a:t>Policy Priorities:</a:t>
            </a:r>
          </a:p>
          <a:p>
            <a:pPr lvl="0"/>
            <a:r>
              <a:rPr b="1"/>
              <a:t>Learning Economy Infrastructure:</a:t>
            </a:r>
            <a:r>
              <a:rPr/>
              <a:t> Institutional, technological, cultural foundations</a:t>
            </a:r>
          </a:p>
          <a:p>
            <a:pPr lvl="0"/>
            <a:r>
              <a:rPr b="1"/>
              <a:t>Resonance Amplification:</a:t>
            </a:r>
            <a:r>
              <a:rPr/>
              <a:t> Systems that strengthen cross-domain pattern recognition</a:t>
            </a:r>
          </a:p>
          <a:p>
            <a:pPr lvl="0"/>
            <a:r>
              <a:rPr b="1"/>
              <a:t>Meta-Competency Development:</a:t>
            </a:r>
            <a:r>
              <a:rPr/>
              <a:t> Teaching how to learn within each economy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Learning Economy Production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Unified Theory of Learning Value</a:t>
            </a:r>
          </a:p>
          <a:p>
            <a:pPr lvl="0" indent="0" marL="0">
              <a:buNone/>
            </a:pPr>
            <a:r>
              <a:rPr b="1"/>
              <a:t>Formula:</a:t>
            </a:r>
          </a:p>
          <a:p>
            <a:pPr lvl="0" indent="0">
              <a:buNone/>
            </a:pPr>
            <a:r>
              <a:rPr>
                <a:latin typeface="Courier"/>
              </a:rPr>
              <a:t>Learning Value = f(Breadth × Depth × Subset_mobility × Superset_capacity × Network_routing) × Resonance_coefficient × AI_acceleration_factor</a:t>
            </a:r>
          </a:p>
          <a:p>
            <a:pPr lvl="0" indent="0" marL="0">
              <a:buNone/>
            </a:pPr>
            <a:r>
              <a:rPr b="1"/>
              <a:t>Optimal Learning Strategies Require:</a:t>
            </a:r>
          </a:p>
          <a:p>
            <a:pPr lvl="0" indent="-342900" marL="342900">
              <a:buAutoNum type="arabicPeriod"/>
            </a:pPr>
            <a:r>
              <a:rPr b="1"/>
              <a:t>Portfolio Balancing:</a:t>
            </a:r>
            <a:r>
              <a:rPr/>
              <a:t> Investing across all five economies</a:t>
            </a:r>
          </a:p>
          <a:p>
            <a:pPr lvl="0" indent="-342900" marL="342900">
              <a:buAutoNum type="arabicPeriod"/>
            </a:pPr>
            <a:r>
              <a:rPr b="1"/>
              <a:t>Resonance Amplification:</a:t>
            </a:r>
            <a:r>
              <a:rPr/>
              <a:t> Developing pattern-recognition capabilities</a:t>
            </a:r>
          </a:p>
          <a:p>
            <a:pPr lvl="0" indent="-342900" marL="342900">
              <a:buAutoNum type="arabicPeriod"/>
            </a:pPr>
            <a:r>
              <a:rPr b="1"/>
              <a:t>AI Integration:</a:t>
            </a:r>
            <a:r>
              <a:rPr/>
              <a:t> Leveraging AI tools while maintaining human advantages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Testable Hypotheses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Theory to Practice</a:t>
            </a:r>
          </a:p>
          <a:p>
            <a:pPr lvl="0" indent="0" marL="0">
              <a:buNone/>
            </a:pPr>
            <a:r>
              <a:rPr b="1"/>
              <a:t>NIST 800-181 Aligned Implementation:</a:t>
            </a:r>
          </a:p>
          <a:p>
            <a:pPr lvl="0"/>
            <a:r>
              <a:rPr b="1"/>
              <a:t>14 Testable Hypotheses</a:t>
            </a:r>
            <a:r>
              <a:rPr/>
              <a:t> for each Learning Economy and meta-factor</a:t>
            </a:r>
          </a:p>
          <a:p>
            <a:pPr lvl="0"/>
            <a:r>
              <a:rPr b="1"/>
              <a:t>Concrete, Measurable Interventions</a:t>
            </a:r>
            <a:r>
              <a:rPr/>
              <a:t> suitable for pilot studies</a:t>
            </a:r>
          </a:p>
          <a:p>
            <a:pPr lvl="0"/>
            <a:r>
              <a:rPr b="1"/>
              <a:t>Quantitative Measures:</a:t>
            </a:r>
            <a:r>
              <a:rPr/>
              <a:t> Specific metrics, data sources, success criteria</a:t>
            </a:r>
          </a:p>
          <a:p>
            <a:pPr lvl="0"/>
            <a:r>
              <a:rPr b="1"/>
              <a:t>Evaluation Protocols:</a:t>
            </a:r>
            <a:r>
              <a:rPr/>
              <a:t> RCT designs, statistical methods, ethical considerations</a:t>
            </a:r>
          </a:p>
          <a:p>
            <a:pPr lvl="0" indent="0" marL="0">
              <a:buNone/>
            </a:pPr>
            <a:r>
              <a:rPr b="1"/>
              <a:t>Example:</a:t>
            </a:r>
            <a:r>
              <a:rPr/>
              <a:t> “AI scaffolding increases parallel-domain competency throughput without proficiency loss”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Getting Started with Learning Economies</a:t>
            </a:r>
          </a:p>
          <a:p>
            <a:pPr lvl="0" indent="0" marL="0">
              <a:buNone/>
            </a:pPr>
            <a:r>
              <a:rPr b="1"/>
              <a:t>Phase 1: Assessment &amp; Mapping</a:t>
            </a:r>
          </a:p>
          <a:p>
            <a:pPr lvl="0"/>
            <a:r>
              <a:rPr/>
              <a:t>Identify current Learning Economy strengths in your institution</a:t>
            </a:r>
          </a:p>
          <a:p>
            <a:pPr lvl="0"/>
            <a:r>
              <a:rPr/>
              <a:t>Map existing programs to the five economies</a:t>
            </a:r>
          </a:p>
          <a:p>
            <a:pPr lvl="0"/>
            <a:r>
              <a:rPr/>
              <a:t>Assess Resonance capabilities across domains</a:t>
            </a:r>
          </a:p>
          <a:p>
            <a:pPr lvl="0" indent="0" marL="0">
              <a:buNone/>
            </a:pPr>
            <a:r>
              <a:rPr b="1"/>
              <a:t>Phase 2: Pilot Programs</a:t>
            </a:r>
          </a:p>
          <a:p>
            <a:pPr lvl="0"/>
            <a:r>
              <a:rPr/>
              <a:t>Select 2-3 testable hypotheses for pilot implementation</a:t>
            </a:r>
          </a:p>
          <a:p>
            <a:pPr lvl="0"/>
            <a:r>
              <a:rPr/>
              <a:t>Design measurement frameworks</a:t>
            </a:r>
          </a:p>
          <a:p>
            <a:pPr lvl="0"/>
            <a:r>
              <a:rPr/>
              <a:t>Begin AI integration for acceleration</a:t>
            </a:r>
          </a:p>
          <a:p>
            <a:pPr lvl="0" indent="0" marL="0">
              <a:buNone/>
            </a:pPr>
            <a:r>
              <a:rPr b="1"/>
              <a:t>Phase 3: Scale &amp; Integration</a:t>
            </a:r>
          </a:p>
          <a:p>
            <a:pPr lvl="0"/>
            <a:r>
              <a:rPr/>
              <a:t>Expand successful pilots across institution</a:t>
            </a:r>
          </a:p>
          <a:p>
            <a:pPr lvl="0"/>
            <a:r>
              <a:rPr/>
              <a:t>Develop Learning Economy Orchestrator training</a:t>
            </a:r>
          </a:p>
          <a:p>
            <a:pPr lvl="0"/>
            <a:r>
              <a:rPr/>
              <a:t>Create cross-economy learning pathways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to Measure Learning Economy Implementation</a:t>
            </a:r>
          </a:p>
          <a:p>
            <a:pPr lvl="0" indent="0" marL="0">
              <a:buNone/>
            </a:pPr>
            <a:r>
              <a:rPr b="1"/>
              <a:t>Individual Level:</a:t>
            </a:r>
          </a:p>
          <a:p>
            <a:pPr lvl="0"/>
            <a:r>
              <a:rPr/>
              <a:t>Breadth coefficients (parallel domains maintained)</a:t>
            </a:r>
          </a:p>
          <a:p>
            <a:pPr lvl="0"/>
            <a:r>
              <a:rPr/>
              <a:t>Depth velocity (time-to-mastery rates)</a:t>
            </a:r>
          </a:p>
          <a:p>
            <a:pPr lvl="0"/>
            <a:r>
              <a:rPr/>
              <a:t>Subset fluency (domain transfer success)</a:t>
            </a:r>
          </a:p>
          <a:p>
            <a:pPr lvl="0"/>
            <a:r>
              <a:rPr/>
              <a:t>Superset capacity (field-level innovations)</a:t>
            </a:r>
          </a:p>
          <a:p>
            <a:pPr lvl="0"/>
            <a:r>
              <a:rPr/>
              <a:t>Network-form efficiency (cross-scale navigation)</a:t>
            </a:r>
          </a:p>
          <a:p>
            <a:pPr lvl="0" indent="0" marL="0">
              <a:buNone/>
            </a:pPr>
            <a:r>
              <a:rPr b="1"/>
              <a:t>Institutional Level:</a:t>
            </a:r>
          </a:p>
          <a:p>
            <a:pPr lvl="0"/>
            <a:r>
              <a:rPr/>
              <a:t>Learning velocity acceleration rates</a:t>
            </a:r>
          </a:p>
          <a:p>
            <a:pPr lvl="0"/>
            <a:r>
              <a:rPr/>
              <a:t>Cross-economy program completion</a:t>
            </a:r>
          </a:p>
          <a:p>
            <a:pPr lvl="0"/>
            <a:r>
              <a:rPr/>
              <a:t>Resonance pattern recognition development</a:t>
            </a:r>
          </a:p>
          <a:p>
            <a:pPr lvl="0"/>
            <a:r>
              <a:rPr/>
              <a:t>Meta-competency acquisition rates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Future of Human Capital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Meta-Competencies in the AI Era</a:t>
            </a:r>
          </a:p>
          <a:p>
            <a:pPr lvl="0" indent="0" marL="0">
              <a:buNone/>
            </a:pPr>
            <a:r>
              <a:rPr b="1"/>
              <a:t>Human Value Concentrates In:</a:t>
            </a:r>
          </a:p>
          <a:p>
            <a:pPr lvl="0"/>
            <a:r>
              <a:rPr b="1"/>
              <a:t>Economy Navigation:</a:t>
            </a:r>
            <a:r>
              <a:rPr/>
              <a:t> Fluid movement between learning modes</a:t>
            </a:r>
          </a:p>
          <a:p>
            <a:pPr lvl="0"/>
            <a:r>
              <a:rPr b="1"/>
              <a:t>Resonance Amplification:</a:t>
            </a:r>
            <a:r>
              <a:rPr/>
              <a:t> Exceptional pattern-recognition</a:t>
            </a:r>
          </a:p>
          <a:p>
            <a:pPr lvl="0"/>
            <a:r>
              <a:rPr b="1"/>
              <a:t>System Integration:</a:t>
            </a:r>
            <a:r>
              <a:rPr/>
              <a:t> Synthesizing insights across all five economies</a:t>
            </a:r>
          </a:p>
          <a:p>
            <a:pPr lvl="0" indent="0" marL="0">
              <a:buNone/>
            </a:pPr>
            <a:r>
              <a:rPr b="1"/>
              <a:t>The Competitive Advantage:</a:t>
            </a:r>
          </a:p>
          <a:p>
            <a:pPr lvl="0"/>
            <a:r>
              <a:rPr/>
              <a:t>Not optimizing within any single economy</a:t>
            </a:r>
          </a:p>
          <a:p>
            <a:pPr lvl="0"/>
            <a:r>
              <a:rPr/>
              <a:t>Mastering fluid navigation across the entire system</a:t>
            </a:r>
          </a:p>
          <a:p>
            <a:pPr lvl="0"/>
            <a:r>
              <a:rPr/>
              <a:t>Positioning learning velocity as primary determinant of success</a:t>
            </a:r>
          </a:p>
          <a:p>
            <a:pPr lvl="0" indent="0" marL="0">
              <a:buNone/>
            </a:pPr>
            <a:r>
              <a:rPr b="1"/>
              <a:t>Key Insight:</a:t>
            </a:r>
            <a:r>
              <a:rPr/>
              <a:t> Success depends on becoming Learning Economy Orchestrators who can adapt to any context.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Can Do Today</a:t>
            </a:r>
          </a:p>
          <a:p>
            <a:pPr lvl="0" indent="0" marL="0">
              <a:buNone/>
            </a:pPr>
            <a:r>
              <a:rPr b="1"/>
              <a:t>For Educators:</a:t>
            </a:r>
          </a:p>
          <a:p>
            <a:pPr lvl="0"/>
            <a:r>
              <a:rPr/>
              <a:t>Begin mapping your curriculum to the five Learning Economies</a:t>
            </a:r>
          </a:p>
          <a:p>
            <a:pPr lvl="0"/>
            <a:r>
              <a:rPr/>
              <a:t>Identify Resonance opportunities in your teaching</a:t>
            </a:r>
          </a:p>
          <a:p>
            <a:pPr lvl="0"/>
            <a:r>
              <a:rPr/>
              <a:t>Experiment with AI tools for acceleration</a:t>
            </a:r>
          </a:p>
          <a:p>
            <a:pPr lvl="0" indent="0" marL="0">
              <a:buNone/>
            </a:pPr>
            <a:r>
              <a:rPr b="1"/>
              <a:t>For Administrators:</a:t>
            </a:r>
          </a:p>
          <a:p>
            <a:pPr lvl="0"/>
            <a:r>
              <a:rPr/>
              <a:t>Assess your institution’s Learning Economy infrastructure</a:t>
            </a:r>
          </a:p>
          <a:p>
            <a:pPr lvl="0"/>
            <a:r>
              <a:rPr/>
              <a:t>Design pilot programs around testable hypotheses</a:t>
            </a:r>
          </a:p>
          <a:p>
            <a:pPr lvl="0"/>
            <a:r>
              <a:rPr/>
              <a:t>Develop Learning Economy Orchestrator training</a:t>
            </a:r>
          </a:p>
          <a:p>
            <a:pPr lvl="0" indent="0" marL="0">
              <a:buNone/>
            </a:pPr>
            <a:r>
              <a:rPr b="1"/>
              <a:t>For Policymakers:</a:t>
            </a:r>
          </a:p>
          <a:p>
            <a:pPr lvl="0"/>
            <a:r>
              <a:rPr/>
              <a:t>Focus economic development on learning velocity</a:t>
            </a:r>
          </a:p>
          <a:p>
            <a:pPr lvl="0"/>
            <a:r>
              <a:rPr/>
              <a:t>Build Learning Economy Infrastructure</a:t>
            </a:r>
          </a:p>
          <a:p>
            <a:pPr lvl="0"/>
            <a:r>
              <a:rPr/>
              <a:t>Create policies that foster all five economies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Resources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Getting Started</a:t>
            </a:r>
          </a:p>
          <a:p>
            <a:pPr lvl="0" indent="0" marL="0">
              <a:buNone/>
            </a:pPr>
            <a:r>
              <a:rPr b="1"/>
              <a:t>Immediate Actions:</a:t>
            </a:r>
          </a:p>
          <a:p>
            <a:pPr lvl="0"/>
            <a:r>
              <a:rPr/>
              <a:t>Review the full theoretical framework in the repository</a:t>
            </a:r>
          </a:p>
          <a:p>
            <a:pPr lvl="0"/>
            <a:r>
              <a:rPr/>
              <a:t>Examine the 14 testable hypotheses for implementation</a:t>
            </a:r>
          </a:p>
          <a:p>
            <a:pPr lvl="0"/>
            <a:r>
              <a:rPr/>
              <a:t>Identify pilot opportunities in your context</a:t>
            </a:r>
          </a:p>
          <a:p>
            <a:pPr lvl="0" indent="0" marL="0">
              <a:buNone/>
            </a:pPr>
            <a:r>
              <a:rPr b="1"/>
              <a:t>Available Resources:</a:t>
            </a:r>
          </a:p>
          <a:p>
            <a:pPr lvl="0"/>
            <a:r>
              <a:rPr/>
              <a:t>Complete theoretical framework document</a:t>
            </a:r>
          </a:p>
          <a:p>
            <a:pPr lvl="0"/>
            <a:r>
              <a:rPr/>
              <a:t>NIST-aligned implementation templates</a:t>
            </a:r>
          </a:p>
          <a:p>
            <a:pPr lvl="0"/>
            <a:r>
              <a:rPr/>
              <a:t>Service architecture for Learning Economies platform</a:t>
            </a:r>
          </a:p>
          <a:p>
            <a:pPr lvl="0"/>
            <a:r>
              <a:rPr/>
              <a:t>Research notes and ongoing development</a:t>
            </a:r>
          </a:p>
          <a:p>
            <a:pPr lvl="0" indent="0" marL="0">
              <a:buNone/>
            </a:pPr>
            <a:r>
              <a:rPr b="1"/>
              <a:t>Contact:</a:t>
            </a:r>
            <a:r>
              <a:rPr/>
              <a:t> [Your contact information]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Let’s Explore Together</a:t>
            </a:r>
          </a:p>
          <a:p>
            <a:pPr lvl="0" indent="0" marL="0">
              <a:buNone/>
            </a:pPr>
            <a:r>
              <a:rPr b="1"/>
              <a:t>Key Questions for Discussion:</a:t>
            </a:r>
          </a:p>
          <a:p>
            <a:pPr lvl="0" indent="-342900" marL="342900">
              <a:buAutoNum type="arabicPeriod"/>
            </a:pPr>
            <a:r>
              <a:rPr/>
              <a:t>Which Learning Economy does your institution currently emphasize?</a:t>
            </a:r>
          </a:p>
          <a:p>
            <a:pPr lvl="0" indent="-342900" marL="342900">
              <a:buAutoNum type="arabicPeriod"/>
            </a:pPr>
            <a:r>
              <a:rPr/>
              <a:t>How might you begin implementing Resonance-based learning?</a:t>
            </a:r>
          </a:p>
          <a:p>
            <a:pPr lvl="0" indent="-342900" marL="342900">
              <a:buAutoNum type="arabicPeriod"/>
            </a:pPr>
            <a:r>
              <a:rPr/>
              <a:t>What barriers do you see to Learning Economy adoption?</a:t>
            </a:r>
          </a:p>
          <a:p>
            <a:pPr lvl="0" indent="-342900" marL="342900">
              <a:buAutoNum type="arabicPeriod"/>
            </a:pPr>
            <a:r>
              <a:rPr/>
              <a:t>How can we collaborate to accelerate this transformation?</a:t>
            </a:r>
          </a:p>
          <a:p>
            <a:pPr lvl="0" indent="-342900" marL="342900">
              <a:buAutoNum type="arabicPeriod"/>
            </a:pPr>
            <a:r>
              <a:rPr b="1"/>
              <a:t>Feedback Request:</a:t>
            </a:r>
            <a:r>
              <a:rPr/>
              <a:t> What are your thoughts on the “Learning Economies” framework name, given the scope of what we’ve presented?</a:t>
            </a:r>
          </a:p>
          <a:p>
            <a:pPr lvl="0" indent="0" marL="0">
              <a:buNone/>
            </a:pPr>
            <a:r>
              <a:rPr b="1"/>
              <a:t>Thank you for your attention and engagement!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Context and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Historical Subset Transitions:</a:t>
            </a:r>
          </a:p>
          <a:p>
            <a:pPr lvl="0"/>
            <a:r>
              <a:rPr/>
              <a:t>Steam engines: Transportation → Nuclear power</a:t>
            </a:r>
          </a:p>
          <a:p>
            <a:pPr lvl="0"/>
            <a:r>
              <a:rPr/>
              <a:t>Punched cards: Office computing → Industrial automation</a:t>
            </a:r>
          </a:p>
          <a:p>
            <a:pPr lvl="0"/>
            <a:r>
              <a:rPr/>
              <a:t>Vacuum tubes: Electronics → Radar/satellites</a:t>
            </a:r>
          </a:p>
          <a:p>
            <a:pPr lvl="0"/>
            <a:r>
              <a:rPr/>
              <a:t>Windmills: Agriculture → Renewable energy</a:t>
            </a:r>
          </a:p>
          <a:p>
            <a:pPr lvl="0" indent="0" marL="0">
              <a:buNone/>
            </a:pPr>
            <a:r>
              <a:rPr b="1"/>
              <a:t>These examples show how knowledge assets migrate to new domains where they create value—demonstrating Resonance in action.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Detailed Metrics for Each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Breadth Metrics:</a:t>
            </a:r>
          </a:p>
          <a:p>
            <a:pPr lvl="0"/>
            <a:r>
              <a:rPr/>
              <a:t>Parallel intellectual pipelines sustained</a:t>
            </a:r>
          </a:p>
          <a:p>
            <a:pPr lvl="0"/>
            <a:r>
              <a:rPr/>
              <a:t>Diversity index of fields mastered</a:t>
            </a:r>
          </a:p>
          <a:p>
            <a:pPr lvl="0"/>
            <a:r>
              <a:rPr/>
              <a:t>Time to proficiency across unrelated subjects</a:t>
            </a:r>
          </a:p>
          <a:p>
            <a:pPr lvl="0" indent="0" marL="0">
              <a:buNone/>
            </a:pPr>
            <a:r>
              <a:rPr b="1"/>
              <a:t>Depth Metrics:</a:t>
            </a:r>
          </a:p>
          <a:p>
            <a:pPr lvl="0"/>
            <a:r>
              <a:rPr/>
              <a:t>Time to PhD-level mastery</a:t>
            </a:r>
          </a:p>
          <a:p>
            <a:pPr lvl="0"/>
            <a:r>
              <a:rPr/>
              <a:t>Hours to independent problem-solving</a:t>
            </a:r>
          </a:p>
          <a:p>
            <a:pPr lvl="0"/>
            <a:r>
              <a:rPr/>
              <a:t>Time to 90th percentile performance</a:t>
            </a:r>
          </a:p>
          <a:p>
            <a:pPr lvl="0" indent="0" marL="0">
              <a:buNone/>
            </a:pPr>
            <a:r>
              <a:rPr b="1"/>
              <a:t>Subset Metrics:</a:t>
            </a:r>
          </a:p>
          <a:p>
            <a:pPr lvl="0"/>
            <a:r>
              <a:rPr/>
              <a:t>Distinct professional fields mastered</a:t>
            </a:r>
          </a:p>
          <a:p>
            <a:pPr lvl="0"/>
            <a:r>
              <a:rPr/>
              <a:t>Retraining time to employability</a:t>
            </a:r>
          </a:p>
          <a:p>
            <a:pPr lvl="0"/>
            <a:r>
              <a:rPr/>
              <a:t>Career pivot success rate</a:t>
            </a:r>
          </a:p>
          <a:p>
            <a:pPr lvl="0" indent="0" marL="0">
              <a:buNone/>
            </a:pPr>
            <a:r>
              <a:rPr b="1"/>
              <a:t>Superset Metrics:</a:t>
            </a:r>
          </a:p>
          <a:p>
            <a:pPr lvl="0"/>
            <a:r>
              <a:rPr/>
              <a:t>Fields successfully obsoleted</a:t>
            </a:r>
          </a:p>
          <a:p>
            <a:pPr lvl="0"/>
            <a:r>
              <a:rPr/>
              <a:t>Time to field replacement</a:t>
            </a:r>
          </a:p>
          <a:p>
            <a:pPr lvl="0"/>
            <a:r>
              <a:rPr/>
              <a:t>Economic impact multiplier</a:t>
            </a:r>
          </a:p>
          <a:p>
            <a:pPr lvl="0" indent="0" marL="0">
              <a:buNone/>
            </a:pPr>
            <a:r>
              <a:rPr b="1"/>
              <a:t>Network-form Metrics:</a:t>
            </a:r>
          </a:p>
          <a:p>
            <a:pPr lvl="0"/>
            <a:r>
              <a:rPr/>
              <a:t>Scale traversals navigated</a:t>
            </a:r>
          </a:p>
          <a:p>
            <a:pPr lvl="0"/>
            <a:r>
              <a:rPr/>
              <a:t>Knowledge topology compression</a:t>
            </a:r>
          </a:p>
          <a:p>
            <a:pPr lvl="0"/>
            <a:r>
              <a:rPr/>
              <a:t>Emergent property discovery rate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2025-11-10T22:26:01Z</dcterms:created>
  <dcterms:modified xsi:type="dcterms:W3CDTF">2025-11-10T22:26:01Z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