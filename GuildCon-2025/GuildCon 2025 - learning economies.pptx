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PT Sans Narrow"/>
      <p:regular r:id="rId40"/>
      <p:bold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6" roundtripDataSignature="AMtx7mj+ix0Gp8FUXu0df3kP647Xp2P5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Narrow-regular.fntdata"/><Relationship Id="rId20" Type="http://schemas.openxmlformats.org/officeDocument/2006/relationships/slide" Target="slides/slide15.xml"/><Relationship Id="rId42" Type="http://schemas.openxmlformats.org/officeDocument/2006/relationships/font" Target="fonts/OpenSans-regular.fntdata"/><Relationship Id="rId41" Type="http://schemas.openxmlformats.org/officeDocument/2006/relationships/font" Target="fonts/PTSansNarrow-bold.fntdata"/><Relationship Id="rId22" Type="http://schemas.openxmlformats.org/officeDocument/2006/relationships/slide" Target="slides/slide17.xml"/><Relationship Id="rId44" Type="http://schemas.openxmlformats.org/officeDocument/2006/relationships/font" Target="fonts/OpenSans-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bold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Metrics: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Parallel intellectual pipelines sustained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Diversity index of fields mastered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 to proficiency across subjects</a:t>
            </a:r>
            <a:endParaRPr/>
          </a:p>
        </p:txBody>
      </p:sp>
      <p:sp>
        <p:nvSpPr>
          <p:cNvPr id="129" name="Google Shape;12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Metrics: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Shortest time to PhD-level mastery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Hours to independent problem-solving</a:t>
            </a:r>
            <a:endParaRPr/>
          </a:p>
        </p:txBody>
      </p:sp>
      <p:sp>
        <p:nvSpPr>
          <p:cNvPr id="137" name="Google Shape;13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Metrics: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Distinct professional fields mastered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Retraining time to employability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Career pivot frequency and speed</a:t>
            </a:r>
            <a:endParaRPr/>
          </a:p>
        </p:txBody>
      </p:sp>
      <p:sp>
        <p:nvSpPr>
          <p:cNvPr id="145" name="Google Shape;14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Combined Insight:</a:t>
            </a:r>
            <a:r>
              <a:rPr lang="en-US"/>
              <a:t> Superset merges field obsolescence (Addressing) with cross-scale synthesis (Transformation). AI enables both simultaneously—redefining fields while creating connections across scales.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Metrics:</a:t>
            </a:r>
            <a:r>
              <a:rPr lang="en-US"/>
              <a:t> - Fields successfully re-addressed - Cross-scale synthesis discoveries - Time from insight to field transformation</a:t>
            </a:r>
            <a:endParaRPr/>
          </a:p>
        </p:txBody>
      </p:sp>
      <p:sp>
        <p:nvSpPr>
          <p:cNvPr id="153" name="Google Shape;15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8d5e72900_3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a8d5e72900_3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KSAs provide foundation for testable hypotheses. Each economy emphasizes different KSA patterns.</a:t>
            </a:r>
            <a:endParaRPr/>
          </a:p>
        </p:txBody>
      </p:sp>
      <p:sp>
        <p:nvSpPr>
          <p:cNvPr id="231" name="Google Shape;231;g3a8d5e72900_3_1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8d5e72900_3_1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a8d5e72900_3_1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g3a8d5e72900_3_74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" name="Google Shape;15;g3a8d5e72900_3_74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" name="Google Shape;16;g3a8d5e72900_3_74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7" name="Google Shape;17;g3a8d5e72900_3_74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" name="Google Shape;18;g3a8d5e72900_3_74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" name="Google Shape;19;g3a8d5e72900_3_74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20" name="Google Shape;20;g3a8d5e72900_3_74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" name="Google Shape;21;g3a8d5e72900_3_74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" name="Google Shape;22;g3a8d5e72900_3_74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23" name="Google Shape;23;g3a8d5e72900_3_74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g3a8d5e72900_3_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a8d5e72900_3_86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a8d5e72900_3_86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g3a8d5e72900_3_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8d5e72900_3_90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a8d5e72900_3_9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g3a8d5e72900_3_9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g3a8d5e72900_3_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8d5e72900_3_9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6" name="Google Shape;36;g3a8d5e72900_3_9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g3a8d5e72900_3_9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a8d5e72900_3_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8d5e72900_3_10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41" name="Google Shape;41;g3a8d5e72900_3_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a8d5e72900_3_10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" name="Google Shape;44;g3a8d5e72900_3_10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g3a8d5e72900_3_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a8d5e72900_3_107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g3a8d5e72900_3_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a8d5e72900_3_11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" name="Google Shape;51;g3a8d5e72900_3_1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g3a8d5e72900_3_110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" name="Google Shape;53;g3a8d5e72900_3_110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4" name="Google Shape;54;g3a8d5e72900_3_11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g3a8d5e72900_3_1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8d5e72900_3_117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8" name="Google Shape;58;g3a8d5e72900_3_1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8d5e72900_3_120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a8d5e72900_3_120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2" name="Google Shape;62;g3a8d5e72900_3_120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g3a8d5e72900_3_1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8d5e72900_3_1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8d5e72900_3_127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8" name="Google Shape;68;g3a8d5e72900_3_127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9" name="Google Shape;69;g3a8d5e72900_3_12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a8d5e72900_3_12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a8d5e72900_3_12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8d5e72900_3_133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4" name="Google Shape;74;g3a8d5e72900_3_133"/>
          <p:cNvSpPr txBox="1"/>
          <p:nvPr>
            <p:ph idx="1" type="body"/>
          </p:nvPr>
        </p:nvSpPr>
        <p:spPr>
          <a:xfrm>
            <a:off x="457200" y="1200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2pPr>
            <a:lvl3pPr indent="-32385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/>
            </a:lvl3pPr>
            <a:lvl4pPr indent="-314325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  <a:defRPr sz="1350"/>
            </a:lvl4pPr>
            <a:lvl5pPr indent="-314325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  <a:defRPr sz="1350"/>
            </a:lvl5pPr>
            <a:lvl6pPr indent="-314325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Char char="■"/>
              <a:defRPr sz="1350"/>
            </a:lvl6pPr>
            <a:lvl7pPr indent="-314325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  <a:defRPr sz="1350"/>
            </a:lvl7pPr>
            <a:lvl8pPr indent="-314325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  <a:defRPr sz="1350"/>
            </a:lvl8pPr>
            <a:lvl9pPr indent="-314325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350"/>
              <a:buChar char="■"/>
              <a:defRPr sz="1350"/>
            </a:lvl9pPr>
          </a:lstStyle>
          <a:p/>
        </p:txBody>
      </p:sp>
      <p:sp>
        <p:nvSpPr>
          <p:cNvPr id="75" name="Google Shape;75;g3a8d5e72900_3_133"/>
          <p:cNvSpPr txBox="1"/>
          <p:nvPr>
            <p:ph idx="2" type="body"/>
          </p:nvPr>
        </p:nvSpPr>
        <p:spPr>
          <a:xfrm>
            <a:off x="4648200" y="1200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2pPr>
            <a:lvl3pPr indent="-32385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/>
            </a:lvl3pPr>
            <a:lvl4pPr indent="-314325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  <a:defRPr sz="1350"/>
            </a:lvl4pPr>
            <a:lvl5pPr indent="-314325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  <a:defRPr sz="1350"/>
            </a:lvl5pPr>
            <a:lvl6pPr indent="-314325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Char char="■"/>
              <a:defRPr sz="1350"/>
            </a:lvl6pPr>
            <a:lvl7pPr indent="-314325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  <a:defRPr sz="1350"/>
            </a:lvl7pPr>
            <a:lvl8pPr indent="-314325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  <a:defRPr sz="1350"/>
            </a:lvl8pPr>
            <a:lvl9pPr indent="-314325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350"/>
              <a:buChar char="■"/>
              <a:defRPr sz="1350"/>
            </a:lvl9pPr>
          </a:lstStyle>
          <a:p/>
        </p:txBody>
      </p:sp>
      <p:sp>
        <p:nvSpPr>
          <p:cNvPr id="76" name="Google Shape;76;g3a8d5e72900_3_13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a8d5e72900_3_13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a8d5e72900_3_13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8d5e72900_3_7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11" name="Google Shape;11;g3a8d5e72900_3_7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" name="Google Shape;12;g3a8d5e72900_3_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hyperlink" Target="mailto:zachary@keystoneflow.com" TargetMode="External"/><Relationship Id="rId4" Type="http://schemas.openxmlformats.org/officeDocument/2006/relationships/hyperlink" Target="mailto:john.franolich@sru.edu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Learning Economies</a:t>
            </a:r>
            <a:endParaRPr/>
          </a:p>
        </p:txBody>
      </p:sp>
      <p:pic>
        <p:nvPicPr>
          <p:cNvPr id="84" name="Google Shape;8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47" y="162125"/>
            <a:ext cx="1808425" cy="18084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New Shapes of Education in the AI Era</a:t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John Franolich</a:t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Zachary Jones</a:t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GuildCon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Main Concepts</a:t>
            </a:r>
            <a:endParaRPr/>
          </a:p>
        </p:txBody>
      </p:sp>
      <p:sp>
        <p:nvSpPr>
          <p:cNvPr id="91" name="Google Shape;91;p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Basis of ‘Learning Economies’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The ‘Learning Economies’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Futurism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Guides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Implementing and Testing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Going Forward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Q&amp;A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Basis of ‘Learning Economies’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What Are “Learning Economies”?</a:t>
            </a:r>
            <a:endParaRPr/>
          </a:p>
        </p:txBody>
      </p:sp>
      <p:sp>
        <p:nvSpPr>
          <p:cNvPr id="102" name="Google Shape;102;p5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LLM has a bias based on training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Design curricula and Edu support to work with the bias</a:t>
            </a:r>
            <a:endParaRPr/>
          </a:p>
          <a:p>
            <a:pPr indent="-342900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/>
              <a:t>example: ontology hydrations for cyber assets vs. flow</a:t>
            </a:r>
            <a:endParaRPr/>
          </a:p>
          <a:p>
            <a:pPr indent="-342900" lvl="1" marL="6858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/>
              <a:t>think of a coin sorting machine that has no slot for dimes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Speed to learning can be very fast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LLM Architecture</a:t>
            </a:r>
            <a:endParaRPr/>
          </a:p>
        </p:txBody>
      </p:sp>
      <p:sp>
        <p:nvSpPr>
          <p:cNvPr id="108" name="Google Shape;108;p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Go with the grain: LLM architecture -&gt; learning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/>
              <a:t>Addressing</a:t>
            </a:r>
            <a:r>
              <a:rPr lang="en-US"/>
              <a:t> → Multidisciplinarity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/>
              <a:t>Compression</a:t>
            </a:r>
            <a:r>
              <a:rPr lang="en-US"/>
              <a:t> → Conceptual leaps, connections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/>
              <a:t>Routing</a:t>
            </a:r>
            <a:r>
              <a:rPr lang="en-US"/>
              <a:t> → Concept linkage and context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/>
              <a:t>Temperature</a:t>
            </a:r>
            <a:r>
              <a:rPr lang="en-US"/>
              <a:t> → Inspiration and creativity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/>
              <a:t>Stabilization</a:t>
            </a:r>
            <a:r>
              <a:rPr lang="en-US"/>
              <a:t> → Loop between Educator and Learner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b="1" lang="en-US"/>
              <a:t>Transformers</a:t>
            </a:r>
            <a:r>
              <a:rPr lang="en-US"/>
              <a:t> → Non-linearity and new structures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“Learning Economies” targets</a:t>
            </a:r>
            <a:endParaRPr/>
          </a:p>
        </p:txBody>
      </p:sp>
      <p:sp>
        <p:nvSpPr>
          <p:cNvPr id="114" name="Google Shape;114;p7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Framework for Learning Speed and Quality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/>
              <a:t>Core competency frameworks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/>
              <a:t>Learning efficiencies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/>
              <a:t>Learning dynamics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/>
              <a:t>Key questions</a:t>
            </a:r>
            <a:r>
              <a:rPr lang="en-US"/>
              <a:t> about instructional models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/>
              <a:t>Knowledge architectures</a:t>
            </a:r>
            <a:r>
              <a:rPr lang="en-US"/>
              <a:t> for cognition and tooling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b="1" lang="en-US"/>
              <a:t>Mastery models</a:t>
            </a:r>
            <a:r>
              <a:rPr lang="en-US"/>
              <a:t> in AI-accelerated world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The ‘Learning Economies’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The Four Learning Economies Framework</a:t>
            </a:r>
            <a:endParaRPr/>
          </a:p>
        </p:txBody>
      </p:sp>
      <p:sp>
        <p:nvSpPr>
          <p:cNvPr id="125" name="Google Shape;125;p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New taxonomy for learning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/>
              <a:t>Breadth</a:t>
            </a:r>
            <a:r>
              <a:rPr lang="en-US"/>
              <a:t> - Multi-subject mastery and parallel domain competency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/>
              <a:t>Depth</a:t>
            </a:r>
            <a:r>
              <a:rPr lang="en-US"/>
              <a:t> - Time-to-competence optimization and acceleration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/>
              <a:t>Subset</a:t>
            </a:r>
            <a:r>
              <a:rPr lang="en-US"/>
              <a:t> - Career mobility through rapid retraining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/>
              <a:t>Superset</a:t>
            </a:r>
            <a:r>
              <a:rPr lang="en-US"/>
              <a:t> - Field reinvention and creative restructuring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Calibri"/>
              <a:buNone/>
            </a:pPr>
            <a:r>
              <a:rPr lang="en-US"/>
              <a:t>The Breadth Economy: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Calibri"/>
              <a:buNone/>
            </a:pPr>
            <a:r>
              <a:rPr lang="en-US"/>
              <a:t>Multi-Subject / Multi-Degree Mastery</a:t>
            </a:r>
            <a:endParaRPr/>
          </a:p>
        </p:txBody>
      </p:sp>
      <p:sp>
        <p:nvSpPr>
          <p:cNvPr id="132" name="Google Shape;132;p10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Current State: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Broad exposure required (high school)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Single-field depth emphasis (undergrad)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GPA measures breadth navigation</a:t>
            </a:r>
            <a:endParaRPr/>
          </a:p>
        </p:txBody>
      </p:sp>
      <p:sp>
        <p:nvSpPr>
          <p:cNvPr id="133" name="Google Shape;133;p10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AI-Accelerated Future: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/>
              <a:t>Double/triple majors</a:t>
            </a:r>
            <a:r>
              <a:rPr lang="en-US"/>
              <a:t> → </a:t>
            </a:r>
            <a:r>
              <a:rPr b="1" lang="en-US"/>
              <a:t>4-5 simultaneous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Multiple degrees acquired simultaneously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Portfolio breadth as primary metric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/>
              <a:t>LLM routing</a:t>
            </a:r>
            <a:r>
              <a:rPr lang="en-US"/>
              <a:t> between knowledge domains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b="1" lang="en-US"/>
              <a:t>Temperature</a:t>
            </a:r>
            <a:r>
              <a:rPr lang="en-US"/>
              <a:t> creates crossover between segments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Calibri"/>
              <a:buNone/>
            </a:pPr>
            <a:r>
              <a:rPr lang="en-US"/>
              <a:t>The Depth Economy: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Calibri"/>
              <a:buNone/>
            </a:pPr>
            <a:r>
              <a:rPr lang="en-US"/>
              <a:t>Acceleration to Mastery</a:t>
            </a:r>
            <a:endParaRPr/>
          </a:p>
        </p:txBody>
      </p:sp>
      <p:sp>
        <p:nvSpPr>
          <p:cNvPr id="140" name="Google Shape;140;p11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Current State: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Some students “blast through” to PhD rapidly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Traditional bottlenecks: lectures, lab failures, prerequisites</a:t>
            </a:r>
            <a:endParaRPr/>
          </a:p>
        </p:txBody>
      </p:sp>
      <p:sp>
        <p:nvSpPr>
          <p:cNvPr id="141" name="Google Shape;141;p11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AI-Accelerated Future: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/>
              <a:t>More students</a:t>
            </a:r>
            <a:r>
              <a:rPr lang="en-US"/>
              <a:t> at mastery levels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AI/LLM enable acceleration for broader population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PhD-level mastery normalized in late teens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AI scaffolding removes time bottlenecks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Personalized acceleration pathways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Calibri"/>
              <a:buNone/>
            </a:pPr>
            <a:r>
              <a:rPr lang="en-US"/>
              <a:t>The Subset Economy: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Calibri"/>
              <a:buNone/>
            </a:pPr>
            <a:r>
              <a:rPr lang="en-US"/>
              <a:t>Vocational / Career Re-Training</a:t>
            </a:r>
            <a:endParaRPr/>
          </a:p>
        </p:txBody>
      </p:sp>
      <p:sp>
        <p:nvSpPr>
          <p:cNvPr id="148" name="Google Shape;148;p12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Current State: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Career switches </a:t>
            </a:r>
            <a:br>
              <a:rPr lang="en-US"/>
            </a:br>
            <a:r>
              <a:rPr lang="en-US"/>
              <a:t>2-3 times in life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Retraining takes years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Coding bootcamps, certifications</a:t>
            </a:r>
            <a:endParaRPr/>
          </a:p>
        </p:txBody>
      </p:sp>
      <p:sp>
        <p:nvSpPr>
          <p:cNvPr id="149" name="Google Shape;149;p12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AI-Accelerated Future: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Vocational retraining compressed to months/weeks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/>
              <a:t>Work in multiple trades</a:t>
            </a:r>
            <a:r>
              <a:rPr lang="en-US"/>
              <a:t> simultaneously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/>
              <a:t>Adjacent trades</a:t>
            </a:r>
            <a:r>
              <a:rPr lang="en-US"/>
              <a:t> easier to acquire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One trade provides </a:t>
            </a:r>
            <a:r>
              <a:rPr b="1" lang="en-US"/>
              <a:t>cognitive scaffolding</a:t>
            </a:r>
            <a:r>
              <a:rPr lang="en-US"/>
              <a:t> for next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Skills transfer between vocational domains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The Superset Economy</a:t>
            </a:r>
            <a:endParaRPr/>
          </a:p>
        </p:txBody>
      </p:sp>
      <p:sp>
        <p:nvSpPr>
          <p:cNvPr id="156" name="Google Shape;156;p13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Field Reinvention: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Re-addressing what knowledge means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Fields obsoleted by re-framing fundamentals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Examples:</a:t>
            </a:r>
            <a:endParaRPr/>
          </a:p>
          <a:p>
            <a:pPr indent="-34290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/>
              <a:t>loom → carbon fiber</a:t>
            </a:r>
            <a:endParaRPr/>
          </a:p>
          <a:p>
            <a:pPr indent="-34290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/>
              <a:t>calculator → CPU/GPU</a:t>
            </a:r>
            <a:endParaRPr/>
          </a:p>
          <a:p>
            <a:pPr indent="-34290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/>
              <a:t>celestial nav → GPS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ts val="2100"/>
              <a:buNone/>
            </a:pPr>
            <a:r>
              <a:rPr lang="en-US"/>
              <a:t>Leapfrogging. Fast reinvention</a:t>
            </a:r>
            <a:endParaRPr/>
          </a:p>
        </p:txBody>
      </p:sp>
      <p:sp>
        <p:nvSpPr>
          <p:cNvPr id="157" name="Google Shape;157;p13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Cross-Scale Navigation (Transformation):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Micro/macro, constellation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analogous insights across fields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‘Savant-level’ as Accessibility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4+ order-of-magnitude GPT:</a:t>
            </a:r>
            <a:endParaRPr/>
          </a:p>
          <a:p>
            <a:pPr indent="-334327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/>
              <a:t>molecular biology → ecosystems</a:t>
            </a:r>
            <a:endParaRPr/>
          </a:p>
          <a:p>
            <a:pPr indent="-334327" lvl="1" marL="685800" rtl="0" algn="l">
              <a:spcBef>
                <a:spcPts val="36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○"/>
            </a:pPr>
            <a:r>
              <a:rPr lang="en-US"/>
              <a:t>physics principles → economics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Real-World Example: ASU Microcredentials</a:t>
            </a:r>
            <a:endParaRPr/>
          </a:p>
        </p:txBody>
      </p:sp>
      <p:sp>
        <p:nvSpPr>
          <p:cNvPr id="163" name="Google Shape;163;p15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/>
              <a:t>Modular micro-badges:</a:t>
            </a:r>
            <a:r>
              <a:rPr lang="en-US"/>
              <a:t> 10-15 hour courses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/>
              <a:t>Stackable design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/>
              <a:t>Leveled progression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/>
              <a:t>Industry-aligned:</a:t>
            </a:r>
            <a:r>
              <a:rPr lang="en-US"/>
              <a:t> market transformation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ts val="2100"/>
              <a:buChar char="●"/>
            </a:pPr>
            <a:r>
              <a:rPr b="1" lang="en-US"/>
              <a:t>Pathways to degrees:</a:t>
            </a:r>
            <a:r>
              <a:rPr lang="en-US"/>
              <a:t> stack toward programs</a:t>
            </a:r>
            <a:endParaRPr/>
          </a:p>
        </p:txBody>
      </p:sp>
      <p:sp>
        <p:nvSpPr>
          <p:cNvPr id="164" name="Google Shape;164;p15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Why It Works: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Low barrier transitions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Rapid skill acquisition (weeks)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Portable badges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Flexible, affordable, accessible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Market-responsive agility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AI as Learning Economy Accelerator</a:t>
            </a:r>
            <a:endParaRPr/>
          </a:p>
        </p:txBody>
      </p:sp>
      <p:sp>
        <p:nvSpPr>
          <p:cNvPr id="170" name="Google Shape;170;p16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Go With the Grain: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Accelerate native to the tooling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Find human things that don’t align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Humanize the compression (language)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Seek new Technical structure for LLMs</a:t>
            </a:r>
            <a:endParaRPr/>
          </a:p>
        </p:txBody>
      </p:sp>
      <p:sp>
        <p:nvSpPr>
          <p:cNvPr id="171" name="Google Shape;171;p16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What AI Doesn’t / Shouldn’t Do: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Create fundamentally new cognitive economics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Replace human cross-domain pattern recognition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Eliminate need for meta-competencies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Replace gut-reactions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Futurism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Economic Implications</a:t>
            </a:r>
            <a:endParaRPr/>
          </a:p>
        </p:txBody>
      </p:sp>
      <p:sp>
        <p:nvSpPr>
          <p:cNvPr id="182" name="Google Shape;182;p18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Labor Market Transformations: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Jobs as Learning Economic Portfolios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Superset-Driven Restructuring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Industry disruption compressed from decades to years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Multi-scale navigators command salary premiums</a:t>
            </a:r>
            <a:endParaRPr/>
          </a:p>
        </p:txBody>
      </p:sp>
      <p:sp>
        <p:nvSpPr>
          <p:cNvPr id="183" name="Google Shape;183;p18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New Forms of Knowledge Capital: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Hyper-Dynamic Competency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Human capital more liquid and real-time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Pattern-recognition specialists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Learning Velocity as Currency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Learning potential KPIs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Institutional Challenges</a:t>
            </a:r>
            <a:endParaRPr/>
          </a:p>
        </p:txBody>
      </p:sp>
      <p:sp>
        <p:nvSpPr>
          <p:cNvPr id="189" name="Google Shape;189;p19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The Credential Lag Problem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Admin Benchmarks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Degree programs not adapted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Common departmental silos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Certification as Calibration</a:t>
            </a:r>
            <a:endParaRPr/>
          </a:p>
        </p:txBody>
      </p:sp>
      <p:sp>
        <p:nvSpPr>
          <p:cNvPr id="190" name="Google Shape;190;p19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Progressive Responses: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Follow multidisciplinary programs like Cybersecurity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New NIST frameworks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Novel metrics from LLMs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Become Learning Economy Orchestrators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Policy Guides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Calibri"/>
              <a:buNone/>
            </a:pPr>
            <a:r>
              <a:rPr lang="en-US"/>
              <a:t>Practical Applications for Educators: From Teaching, to Learning Economy Orchestration</a:t>
            </a:r>
            <a:endParaRPr/>
          </a:p>
        </p:txBody>
      </p:sp>
      <p:sp>
        <p:nvSpPr>
          <p:cNvPr id="201" name="Google Shape;201;p21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Develop competency across all four economies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Strengthen Resonance capabilities in students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Enable fluid navigation between learning modes</a:t>
            </a:r>
            <a:endParaRPr/>
          </a:p>
        </p:txBody>
      </p:sp>
      <p:sp>
        <p:nvSpPr>
          <p:cNvPr id="202" name="Google Shape;202;p21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32898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Breadth: Managing parallel domain mastery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Depth: Optimizing time-to-discovery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Subset: Modular field practice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Superset: Teaching focus + multi-scale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Resonance: Identifying valuable cross-domain transfer patterns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Practical Applications for Administrators</a:t>
            </a:r>
            <a:endParaRPr/>
          </a:p>
        </p:txBody>
      </p:sp>
      <p:sp>
        <p:nvSpPr>
          <p:cNvPr id="208" name="Google Shape;208;p22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Institutional Restructuring: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Resonance Clusters: Interdisciplinary groups focused on cross-domain transfer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Scale Navigation Labs: Spaces for micro-to-macro knowledge routing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Disruption Incubators: Environments for Superset innovation</a:t>
            </a:r>
            <a:endParaRPr/>
          </a:p>
        </p:txBody>
      </p:sp>
      <p:sp>
        <p:nvSpPr>
          <p:cNvPr id="209" name="Google Shape;209;p22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Assessment Evolution: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Portfolio-Based Assessment: Dynamic portfolios measuring all four economies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Real-Time Competency Tracking: AI-powered continuous evaluation</a:t>
            </a:r>
            <a:endParaRPr/>
          </a:p>
          <a:p>
            <a:pPr indent="-332898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Fluid Credentials: Reflecting evolving capabilities, not historical achievements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Practical Applications for Policymakers</a:t>
            </a:r>
            <a:endParaRPr/>
          </a:p>
        </p:txBody>
      </p:sp>
      <p:sp>
        <p:nvSpPr>
          <p:cNvPr id="215" name="Google Shape;215;p23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Economic Strategy: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Building institutional foundations for rapid learning acceleration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Create competitive advantage through learning velocity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Foster all four Learning Economies simultaneously for resilience</a:t>
            </a:r>
            <a:endParaRPr/>
          </a:p>
        </p:txBody>
      </p:sp>
      <p:sp>
        <p:nvSpPr>
          <p:cNvPr id="216" name="Google Shape;216;p23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Policy Priorities: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Learning Economy Infrastructure: Institutional, technological, cultural foundations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Resonance Amplification: Systems that strengthen cross-domain pattern recognition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Meta-Competency Development: Teaching how to learn within each economy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Implementing and Testing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Testable Hypotheses Framework</a:t>
            </a:r>
            <a:endParaRPr/>
          </a:p>
        </p:txBody>
      </p:sp>
      <p:sp>
        <p:nvSpPr>
          <p:cNvPr id="227" name="Google Shape;227;p25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NIST 800-181 Alignment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14 Testable Hypotheses per Learning Economy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Concrete, measurable interventions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Pilot study designs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Quantitative measures: metrics, observability, success criteria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RCT designs, statistical methods, ethics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Open source hypothesis testing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Admin/liaison toolkit for educators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8d5e72900_3_145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KSA Framework: Knowledge, Skills, Abilities</a:t>
            </a:r>
            <a:endParaRPr/>
          </a:p>
        </p:txBody>
      </p:sp>
      <p:sp>
        <p:nvSpPr>
          <p:cNvPr id="234" name="Google Shape;234;g3a8d5e72900_3_145"/>
          <p:cNvSpPr txBox="1"/>
          <p:nvPr>
            <p:ph idx="1" type="body"/>
          </p:nvPr>
        </p:nvSpPr>
        <p:spPr>
          <a:xfrm>
            <a:off x="457200" y="1200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KSA Drives Objectives: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/>
              <a:t>Knowledge:</a:t>
            </a:r>
            <a:r>
              <a:rPr lang="en-US"/>
              <a:t> Domain foundations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/>
              <a:t>Skills:</a:t>
            </a:r>
            <a:r>
              <a:rPr lang="en-US"/>
              <a:t> Practice and application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/>
              <a:t>Abilities:</a:t>
            </a:r>
            <a:r>
              <a:rPr lang="en-US"/>
              <a:t> Integration and adaptation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Maps to:</a:t>
            </a:r>
            <a:r>
              <a:rPr lang="en-US"/>
              <a:t> - Objectives, rubrics - Assessments - Measurements</a:t>
            </a:r>
            <a:endParaRPr/>
          </a:p>
        </p:txBody>
      </p:sp>
      <p:sp>
        <p:nvSpPr>
          <p:cNvPr id="235" name="Google Shape;235;g3a8d5e72900_3_145"/>
          <p:cNvSpPr txBox="1"/>
          <p:nvPr>
            <p:ph idx="2" type="body"/>
          </p:nvPr>
        </p:nvSpPr>
        <p:spPr>
          <a:xfrm>
            <a:off x="4648200" y="1200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Learning Economy Alignment: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/>
              <a:t>Depth:</a:t>
            </a:r>
            <a:r>
              <a:rPr lang="en-US"/>
              <a:t> K→S→A velocity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/>
              <a:t>Breadth:</a:t>
            </a:r>
            <a:r>
              <a:rPr lang="en-US"/>
              <a:t> Parallel KSA pipelines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/>
              <a:t>Subset:</a:t>
            </a:r>
            <a:r>
              <a:rPr lang="en-US"/>
              <a:t> KSA transfer and liquidity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ts val="2100"/>
              <a:buChar char="●"/>
            </a:pPr>
            <a:r>
              <a:rPr b="1" lang="en-US"/>
              <a:t>Superset:</a:t>
            </a:r>
            <a:r>
              <a:rPr lang="en-US"/>
              <a:t> Cross-domain synthesis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8d5e72900_3_152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Training Kit for Educators</a:t>
            </a:r>
            <a:endParaRPr/>
          </a:p>
        </p:txBody>
      </p:sp>
      <p:sp>
        <p:nvSpPr>
          <p:cNvPr id="241" name="Google Shape;241;g3a8d5e72900_3_152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Student profile / basis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Agentic attunement to goals (student, institution, class)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Webapp service, AI App integrations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Guide for other tools, notebooks, data integration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Building accomplishment targets (NIST 800-181)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Progress, outcomes, and measurement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Implementation Roadmap</a:t>
            </a:r>
            <a:endParaRPr/>
          </a:p>
        </p:txBody>
      </p:sp>
      <p:sp>
        <p:nvSpPr>
          <p:cNvPr id="247" name="Google Shape;247;p26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Phase 1: Assessment &amp; Mapping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Find existing Learning Economies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Map existing programs; moonshots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Assess domain resonance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Phase 2: Pilot Programs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Select 2-3 testable hypotheses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Publish new measurements</a:t>
            </a:r>
            <a:endParaRPr/>
          </a:p>
          <a:p>
            <a:pPr indent="-322897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Toolkit, implementation steps</a:t>
            </a:r>
            <a:endParaRPr/>
          </a:p>
        </p:txBody>
      </p:sp>
      <p:sp>
        <p:nvSpPr>
          <p:cNvPr id="248" name="Google Shape;248;p26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US"/>
              <a:t>Phase 3: Scale &amp; Integration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Expand successful pilots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Orchestrator training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Library of Cross-economy pathways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120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Grants and training for self-sufficiency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"/>
          <p:cNvSpPr txBox="1"/>
          <p:nvPr>
            <p:ph idx="1" type="body"/>
          </p:nvPr>
        </p:nvSpPr>
        <p:spPr>
          <a:xfrm>
            <a:off x="457200" y="1581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342900" rtl="0" algn="l">
              <a:spcBef>
                <a:spcPts val="420"/>
              </a:spcBef>
              <a:spcAft>
                <a:spcPts val="0"/>
              </a:spcAft>
              <a:buSzPts val="2000"/>
              <a:buChar char="●"/>
            </a:pPr>
            <a:r>
              <a:rPr lang="en-US" sz="1700"/>
              <a:t>Breadth coefficients </a:t>
            </a:r>
            <a:br>
              <a:rPr lang="en-US" sz="1700"/>
            </a:br>
            <a:r>
              <a:rPr lang="en-US" sz="1700"/>
              <a:t>(parametric ratios)</a:t>
            </a:r>
            <a:endParaRPr sz="1700"/>
          </a:p>
          <a:p>
            <a:pPr indent="-355600" lvl="0" marL="3429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1700"/>
              <a:t>Depth velocity </a:t>
            </a:r>
            <a:br>
              <a:rPr lang="en-US" sz="1700"/>
            </a:br>
            <a:r>
              <a:rPr lang="en-US" sz="1700"/>
              <a:t>(time-to-mastery rates)</a:t>
            </a:r>
            <a:endParaRPr sz="1700"/>
          </a:p>
          <a:p>
            <a:pPr indent="-355600" lvl="0" marL="3429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1700"/>
              <a:t>Subset fluency </a:t>
            </a:r>
            <a:br>
              <a:rPr lang="en-US" sz="1700"/>
            </a:br>
            <a:r>
              <a:rPr lang="en-US" sz="1700"/>
              <a:t>(domain transfer success)</a:t>
            </a:r>
            <a:endParaRPr sz="1700"/>
          </a:p>
          <a:p>
            <a:pPr indent="-355600" lvl="0" marL="342900" rtl="0" algn="l">
              <a:spcBef>
                <a:spcPts val="1200"/>
              </a:spcBef>
              <a:spcAft>
                <a:spcPts val="1200"/>
              </a:spcAft>
              <a:buSzPts val="2000"/>
              <a:buChar char="●"/>
            </a:pPr>
            <a:r>
              <a:rPr lang="en-US" sz="1700"/>
              <a:t>Superset capacity </a:t>
            </a:r>
            <a:br>
              <a:rPr lang="en-US" sz="1700"/>
            </a:br>
            <a:r>
              <a:rPr lang="en-US" sz="1700"/>
              <a:t>(cross-scale structure)</a:t>
            </a:r>
            <a:endParaRPr sz="1700"/>
          </a:p>
        </p:txBody>
      </p:sp>
      <p:sp>
        <p:nvSpPr>
          <p:cNvPr id="254" name="Google Shape;254;p27"/>
          <p:cNvSpPr txBox="1"/>
          <p:nvPr>
            <p:ph idx="4294967295" type="body"/>
          </p:nvPr>
        </p:nvSpPr>
        <p:spPr>
          <a:xfrm>
            <a:off x="4648200" y="1581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342900" rtl="0" algn="l">
              <a:lnSpc>
                <a:spcPct val="10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1700"/>
              <a:t>Learning velocity </a:t>
            </a:r>
            <a:br>
              <a:rPr lang="en-US" sz="1700"/>
            </a:br>
            <a:r>
              <a:rPr lang="en-US" sz="1700"/>
              <a:t>acceleration rates</a:t>
            </a:r>
            <a:endParaRPr sz="1700"/>
          </a:p>
          <a:p>
            <a:pPr indent="-336550" lvl="0" marL="3429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1700"/>
              <a:t>Cross-economy </a:t>
            </a:r>
            <a:br>
              <a:rPr lang="en-US" sz="1700"/>
            </a:br>
            <a:r>
              <a:rPr lang="en-US" sz="1700"/>
              <a:t>program completion</a:t>
            </a:r>
            <a:endParaRPr sz="1700"/>
          </a:p>
          <a:p>
            <a:pPr indent="-336550" lvl="0" marL="3429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1700"/>
              <a:t>Resonance pattern </a:t>
            </a:r>
            <a:br>
              <a:rPr lang="en-US" sz="1700"/>
            </a:br>
            <a:r>
              <a:rPr lang="en-US" sz="1700"/>
              <a:t>recognition development</a:t>
            </a:r>
            <a:endParaRPr sz="1700"/>
          </a:p>
          <a:p>
            <a:pPr indent="-336550" lvl="0" marL="3429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300"/>
              <a:buChar char="●"/>
            </a:pPr>
            <a:r>
              <a:rPr lang="en-US" sz="1700"/>
              <a:t>Meta-competency </a:t>
            </a:r>
            <a:br>
              <a:rPr lang="en-US" sz="1700"/>
            </a:br>
            <a:r>
              <a:rPr lang="en-US" sz="1700"/>
              <a:t>acquisition rates</a:t>
            </a:r>
            <a:endParaRPr sz="1700"/>
          </a:p>
        </p:txBody>
      </p:sp>
      <p:sp>
        <p:nvSpPr>
          <p:cNvPr id="255" name="Google Shape;255;p27"/>
          <p:cNvSpPr txBox="1"/>
          <p:nvPr>
            <p:ph idx="1" type="body"/>
          </p:nvPr>
        </p:nvSpPr>
        <p:spPr>
          <a:xfrm>
            <a:off x="457200" y="971550"/>
            <a:ext cx="82296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How to Measure Learning Economy Implementation</a:t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Success Metrics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Emerging Technologies for Educators</a:t>
            </a:r>
            <a:endParaRPr/>
          </a:p>
        </p:txBody>
      </p:sp>
      <p:sp>
        <p:nvSpPr>
          <p:cNvPr id="262" name="Google Shape;262;p28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200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High-Stakes Training:</a:t>
            </a:r>
            <a:r>
              <a:rPr lang="en-US"/>
              <a:t> Ransomware negotiation training via VR scenarios</a:t>
            </a:r>
            <a:endParaRPr/>
          </a:p>
          <a:p>
            <a:pPr indent="-32004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Safe Practice Environments:</a:t>
            </a:r>
            <a:r>
              <a:rPr lang="en-US"/>
              <a:t> Immersive training for situations difficult to replicate in real life</a:t>
            </a:r>
            <a:endParaRPr/>
          </a:p>
          <a:p>
            <a:pPr indent="-32004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Visual Learning:</a:t>
            </a:r>
            <a:r>
              <a:rPr lang="en-US"/>
              <a:t> Dynamic infographics adapting to learner comprehension</a:t>
            </a:r>
            <a:endParaRPr/>
          </a:p>
          <a:p>
            <a:pPr indent="-32004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Multimedia Magazines:</a:t>
            </a:r>
            <a:r>
              <a:rPr lang="en-US"/>
              <a:t> Dynamic layouts with AI-curated content paths</a:t>
            </a:r>
            <a:endParaRPr/>
          </a:p>
          <a:p>
            <a:pPr indent="-32004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GenAI Podcasts:</a:t>
            </a:r>
            <a:r>
              <a:rPr lang="en-US"/>
              <a:t> Auto-generated reviews and discussions of learning materials</a:t>
            </a:r>
            <a:endParaRPr/>
          </a:p>
          <a:p>
            <a:pPr indent="-32004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Interactive Publications:</a:t>
            </a:r>
            <a:r>
              <a:rPr lang="en-US"/>
              <a:t> “Talk-to-a-doc” conversational interfaces for papers/textbooks</a:t>
            </a:r>
            <a:endParaRPr/>
          </a:p>
          <a:p>
            <a:pPr indent="-32004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ct val="133333"/>
              <a:buChar char="●"/>
            </a:pPr>
            <a:r>
              <a:rPr b="1" lang="en-US"/>
              <a:t>Adaptive Learning Styles:</a:t>
            </a:r>
            <a:r>
              <a:rPr lang="en-US"/>
              <a:t> Systems that support diverse learning preferences across modalities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GenAI + Immersive Content for Adaptive Learning</a:t>
            </a:r>
            <a:endParaRPr/>
          </a:p>
        </p:txBody>
      </p:sp>
      <p:sp>
        <p:nvSpPr>
          <p:cNvPr id="268" name="Google Shape;268;p2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Multi-modal learning experiences supported by agentic AI systems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XR training experiences tailored to context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Dynamic content generation based on learning economy alignment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Personalized scenarios that adapt to student performance in real-time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Going Forward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Call to Action</a:t>
            </a:r>
            <a:endParaRPr/>
          </a:p>
        </p:txBody>
      </p:sp>
      <p:sp>
        <p:nvSpPr>
          <p:cNvPr id="279" name="Google Shape;279;p3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3333"/>
              <a:buNone/>
            </a:pPr>
            <a:r>
              <a:rPr b="1" lang="en-US"/>
              <a:t>For Educators:</a:t>
            </a:r>
            <a:endParaRPr/>
          </a:p>
          <a:p>
            <a:pPr indent="-29718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lang="en-US"/>
              <a:t>Begin mapping your curriculum to the four Learning Economies</a:t>
            </a:r>
            <a:endParaRPr/>
          </a:p>
          <a:p>
            <a:pPr indent="-29718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lang="en-US"/>
              <a:t>Experiment with AI tools for acceleration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None/>
            </a:pPr>
            <a:r>
              <a:rPr b="1" lang="en-US"/>
              <a:t>For Administrators:</a:t>
            </a:r>
            <a:endParaRPr/>
          </a:p>
          <a:p>
            <a:pPr indent="-29718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lang="en-US"/>
              <a:t>Reassess institutional metrics</a:t>
            </a:r>
            <a:endParaRPr/>
          </a:p>
          <a:p>
            <a:pPr indent="-29718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lang="en-US"/>
              <a:t>Design pilot programs around moonshot hypotheses</a:t>
            </a:r>
            <a:endParaRPr/>
          </a:p>
          <a:p>
            <a:pPr indent="-29718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lang="en-US"/>
              <a:t>Pilot educator-as-orchestrator programs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None/>
            </a:pPr>
            <a:r>
              <a:rPr b="1" lang="en-US"/>
              <a:t>For Policymakers:</a:t>
            </a:r>
            <a:endParaRPr/>
          </a:p>
          <a:p>
            <a:pPr indent="-29718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lang="en-US"/>
              <a:t>Focus economic development on learning velocity</a:t>
            </a:r>
            <a:endParaRPr/>
          </a:p>
          <a:p>
            <a:pPr indent="-29718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lang="en-US"/>
              <a:t>Build Learning Economy Infrastructure</a:t>
            </a:r>
            <a:endParaRPr/>
          </a:p>
          <a:p>
            <a:pPr indent="-29718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ct val="133333"/>
              <a:buChar char="●"/>
            </a:pPr>
            <a:r>
              <a:rPr lang="en-US"/>
              <a:t>Create policies that foster all four economies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Resources &amp; Next Steps</a:t>
            </a:r>
            <a:endParaRPr/>
          </a:p>
        </p:txBody>
      </p:sp>
      <p:sp>
        <p:nvSpPr>
          <p:cNvPr id="285" name="Google Shape;285;p32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3333"/>
              <a:buNone/>
            </a:pPr>
            <a:r>
              <a:rPr b="1" lang="en-US"/>
              <a:t>Immediate Actions:</a:t>
            </a:r>
            <a:endParaRPr/>
          </a:p>
          <a:p>
            <a:pPr indent="-33147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lang="en-US"/>
              <a:t>Review the full theoretical framework in the repository</a:t>
            </a:r>
            <a:endParaRPr/>
          </a:p>
          <a:p>
            <a:pPr indent="-33147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lang="en-US"/>
              <a:t>Examine the 14 testable hypotheses for implementation</a:t>
            </a:r>
            <a:endParaRPr/>
          </a:p>
          <a:p>
            <a:pPr indent="-33147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lang="en-US"/>
              <a:t>Identify pilot opportunities in your context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None/>
            </a:pPr>
            <a:r>
              <a:rPr b="1" lang="en-US"/>
              <a:t>Future Resources:</a:t>
            </a:r>
            <a:endParaRPr/>
          </a:p>
          <a:p>
            <a:pPr indent="-33147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lang="en-US"/>
              <a:t>Complete theoretical framework document</a:t>
            </a:r>
            <a:endParaRPr/>
          </a:p>
          <a:p>
            <a:pPr indent="-33147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lang="en-US"/>
              <a:t>NIST-aligned implementation templates</a:t>
            </a:r>
            <a:endParaRPr/>
          </a:p>
          <a:p>
            <a:pPr indent="-33147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3333"/>
              <a:buChar char="●"/>
            </a:pPr>
            <a:r>
              <a:rPr lang="en-US"/>
              <a:t>Service architecture for Learning Economies platform</a:t>
            </a:r>
            <a:endParaRPr/>
          </a:p>
          <a:p>
            <a:pPr indent="-33147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ct val="133333"/>
              <a:buChar char="●"/>
            </a:pPr>
            <a:r>
              <a:rPr lang="en-US"/>
              <a:t>New tooling, ongoing development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291" name="Google Shape;291;p3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Zachary Jones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hlink"/>
                </a:solidFill>
                <a:uFill>
                  <a:noFill/>
                </a:uFill>
                <a:hlinkClick r:id="rId3"/>
              </a:rPr>
              <a:t>zachary@keystoneflow.com</a:t>
            </a:r>
            <a:r>
              <a:rPr lang="en-US"/>
              <a:t> </a:t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/>
              <a:t>John Franolich</a:t>
            </a:r>
            <a:endParaRPr b="1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hlink"/>
                </a:solidFill>
                <a:uFill>
                  <a:noFill/>
                </a:uFill>
                <a:hlinkClick r:id="rId4"/>
              </a:rPr>
              <a:t>john.franolich@sru.edu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Q&amp;A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2025-11-22T21:10:41Z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